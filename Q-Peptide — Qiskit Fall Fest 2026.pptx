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question, not the technology. The one thing to land: every number in this deck came out of a run that actually happened, including the numbers that make the project look bad.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 filling this slide. The single-objective 'maximise activity' formulation is known to fail in the literature: it reproduces over-cationic hemolytic analogues. That is why hemolysis has to be penalised explicitly in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folding disclaimer out loud, because the audience will assume otherwise. S combines predicted activity and predicted hemolysis. The sign convention is fixed in exactly one place in the code and a test asserts the exact solver's optimum is the maximum-S candidate.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'what is new here'. Credit the prior work openly: quantum optimization of nonhemolytic AMPs was done and wet-lab validated in 2023. What differs is how the QUBO is built, that its error was measured, and that it is benchmarked against the exact optimum.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is the one to stress. Because the surrogate degrades at three mutations, candidates are ranked by direct ML re-scoring rather than QUBO energy. That decision came out of a measurement, which is three slides from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the mixer: standard transverse-field X mixer with penalty-based constraints. An XY mixer preserving Hamming weight would remove the penalties entirely. It is the documented next step and the single most promising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'tiny penalty must fail' test is the one worth calling out. A verifier that always returns true is worthless, so the suite proves the verifier is capable of failing. Two claims in my own documentation turned out to be false during this build and were corrected.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this rather than hiding it. A judge who finds the weakness themselves discounts everything else you said. Measuring the validity regime is what let us make a correct design decision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0.9x result reproduces Boulebnane et al. directly. They found QAOA on a peptide problem could be matched by random sampling. We did not bury that, we reproduced it and put it next to our own best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measured gain is modest and at high noise slightly negative. That is expected, not a failure. Readout mitigation corrects measurement error only, while the dominant loss at these gate counts is accumulated gate error that no post-processing can undo.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a Qiskit Fall Fest audience cares about most. Be precise: we did not optimise parameters on hardware, we sampled the final circuit. Sizing it small was deliberate, to get an interpretable result rather than a noise-dominated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bug only a real device could catch: readout calibration used backend.run(), which IBM Runtime removed. It failed on hardware and nowhere else. Fixed with a SamplerV2 fallback that disables measurement twirling during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models are trained on natural peptides and asked about point mutants. DRAMP contains natural analogue series, so the held-out split already holds real point-mutant pairs with both members independently assayed. This study is the project's most important methodological catch.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known limitations are tabulated in the README, including two claims in my own documentation that were wrong and were corrected after an audit. Volunteering that is the entire point of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stating plainly: the 'no run loaded' empty state was a deliberate decision. A dashboard that invents plausible numbers when nothing has run is exactly how a demo misleads a judge.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inviting scrutiny. The project's whole argument is that its limits were measured rather than hidden, so the hard questions are the ones it was built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B0B0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50" y="1203802"/>
            <a:ext cx="5206943" cy="773501"/>
          </a:xfrm>
          <a:prstGeom prst="rect">
            <a:avLst/>
          </a:prstGeom>
          <a:noFill/>
          <a:ln/>
        </p:spPr>
        <p:txBody>
          <a:bodyPr wrap="square" lIns="0" tIns="0" rIns="0" bIns="0" rtlCol="0" anchor="t"/>
          <a:lstStyle>
            <a:lvl1pPr algn="l" indent="0" marL="0">
              <a:lnSpc>
                <a:spcPct val="115000"/>
              </a:lnSpc>
              <a:buNone/>
              <a:defRPr lang="en-US" sz="3000" dirty="0">
                <a:solidFill>
                  <a:srgbClr val="ECE6DB"/>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750" y="2282104"/>
            <a:ext cx="10566450" cy="3763096"/>
          </a:xfrm>
          <a:prstGeom prst="rect">
            <a:avLst/>
          </a:prstGeom>
          <a:noFill/>
          <a:ln/>
        </p:spPr>
        <p:txBody>
          <a:bodyPr wrap="square" lIns="0" tIns="0" rIns="0" bIns="0" rtlCol="0" anchor="t"/>
          <a:lstStyle>
            <a:lvl1pPr algn="l" indent="0" marL="0">
              <a:lnSpc>
                <a:spcPct val="140000"/>
              </a:lnSpc>
              <a:buNone/>
              <a:defRPr lang="en-US" sz="1600" dirty="0">
                <a:solidFill>
                  <a:srgbClr val="ECE6DB"/>
                </a:solidFill>
                <a:latin typeface="Space Grotesk" pitchFamily="34" charset="0"/>
                <a:ea typeface="Space Grotesk" pitchFamily="34" charset="-122"/>
                <a:cs typeface="Space Grotes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B0B0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50" y="1203802"/>
            <a:ext cx="5206943" cy="773501"/>
          </a:xfrm>
          <a:prstGeom prst="rect">
            <a:avLst/>
          </a:prstGeom>
          <a:noFill/>
          <a:ln/>
        </p:spPr>
        <p:txBody>
          <a:bodyPr wrap="square" lIns="0" tIns="0" rIns="0" bIns="0" rtlCol="0" anchor="t"/>
          <a:lstStyle>
            <a:lvl1pPr algn="l" indent="0" marL="0">
              <a:lnSpc>
                <a:spcPct val="115000"/>
              </a:lnSpc>
              <a:buNone/>
              <a:defRPr lang="en-US" sz="3000" dirty="0">
                <a:solidFill>
                  <a:srgbClr val="ECE6DB"/>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750" y="2282104"/>
            <a:ext cx="10566450" cy="3763096"/>
          </a:xfrm>
          <a:prstGeom prst="rect">
            <a:avLst/>
          </a:prstGeom>
          <a:noFill/>
          <a:ln/>
        </p:spPr>
        <p:txBody>
          <a:bodyPr wrap="square" lIns="0" tIns="0" rIns="0" bIns="0" rtlCol="0" anchor="t"/>
          <a:lstStyle>
            <a:lvl1pPr algn="l" indent="0" marL="0">
              <a:lnSpc>
                <a:spcPct val="140000"/>
              </a:lnSpc>
              <a:buNone/>
              <a:defRPr lang="en-US" sz="1600" dirty="0">
                <a:solidFill>
                  <a:srgbClr val="ECE6DB"/>
                </a:solidFill>
                <a:latin typeface="Space Grotesk" pitchFamily="34" charset="0"/>
                <a:ea typeface="Space Grotesk" pitchFamily="34" charset="-122"/>
                <a:cs typeface="Space Grotesk"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webp"/><Relationship Id="rId2" Type="http://schemas.openxmlformats.org/officeDocument/2006/relationships/image" Target="../media/image-15-2.webp"/><Relationship Id="rId3" Type="http://schemas.openxmlformats.org/officeDocument/2006/relationships/image" Target="../media/image-15-3.webp"/><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C"/>
        </a:solidFill>
      </p:bgPr>
    </p:bg>
    <p:spTree>
      <p:nvGrpSpPr>
        <p:cNvPr id="1" name=""/>
        <p:cNvGrpSpPr/>
        <p:nvPr/>
      </p:nvGrpSpPr>
      <p:grpSpPr>
        <a:xfrm>
          <a:off x="0" y="0"/>
          <a:ext cx="0" cy="0"/>
          <a:chOff x="0" y="0"/>
          <a:chExt cx="0" cy="0"/>
        </a:xfrm>
      </p:grpSpPr>
      <p:sp>
        <p:nvSpPr>
          <p:cNvPr id="2" name="Text 0"/>
          <p:cNvSpPr/>
          <p:nvPr/>
        </p:nvSpPr>
        <p:spPr>
          <a:xfrm>
            <a:off x="812750" y="761953"/>
            <a:ext cx="7848582"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57F75"/>
                </a:solidFill>
                <a:latin typeface="JetBrains Mono" pitchFamily="49" charset="0"/>
                <a:ea typeface="JetBrains Mono" pitchFamily="49" charset="-122"/>
                <a:cs typeface="JetBrains Mono" pitchFamily="49" charset="-120"/>
              </a:rPr>
              <a:t>Qiskit Fall Fest 2026 / submission</a:t>
            </a:r>
            <a:endParaRPr lang="en-US" sz="1200" dirty="0"/>
          </a:p>
        </p:txBody>
      </p:sp>
      <p:sp>
        <p:nvSpPr>
          <p:cNvPr id="3" name="Text 1"/>
          <p:cNvSpPr/>
          <p:nvPr>
            <p:ph type="title"/>
          </p:nvPr>
        </p:nvSpPr>
        <p:spPr>
          <a:xfrm>
            <a:off x="812750" y="3428826"/>
            <a:ext cx="10883421" cy="1006844"/>
          </a:xfrm>
          <a:prstGeom prst="rect">
            <a:avLst/>
          </a:prstGeom>
          <a:noFill/>
          <a:ln/>
        </p:spPr>
        <p:txBody>
          <a:bodyPr wrap="square" lIns="0" tIns="0" rIns="0" bIns="0" rtlCol="0" anchor="t">
            <a:normAutofit/>
          </a:bodyPr>
          <a:lstStyle/>
          <a:p>
            <a:pPr algn="l" indent="0" marL="0">
              <a:lnSpc>
                <a:spcPts val="7728"/>
              </a:lnSpc>
              <a:buNone/>
            </a:pPr>
            <a:r>
              <a:rPr lang="en-US" sz="8400" b="1" i="0" spc="-420" kern="0" dirty="0">
                <a:solidFill>
                  <a:srgbClr val="ECE6DB"/>
                </a:solidFill>
                <a:latin typeface="Space Grotesk" pitchFamily="34" charset="0"/>
                <a:ea typeface="Space Grotesk" pitchFamily="34" charset="-122"/>
                <a:cs typeface="Space Grotesk" pitchFamily="34" charset="-120"/>
              </a:rPr>
              <a:t>Q</a:t>
            </a:r>
            <a:r>
              <a:rPr lang="en-US" sz="8400" b="1" i="0" spc="-420" kern="0" dirty="0">
                <a:solidFill>
                  <a:srgbClr val="E3A23C"/>
                </a:solidFill>
                <a:latin typeface="Space Grotesk" pitchFamily="34" charset="0"/>
                <a:ea typeface="Space Grotesk" pitchFamily="34" charset="-122"/>
                <a:cs typeface="Space Grotesk" pitchFamily="34" charset="-120"/>
              </a:rPr>
              <a:t>.</a:t>
            </a:r>
            <a:r>
              <a:rPr lang="en-US" sz="8400" b="1" i="0" spc="-420" kern="0" dirty="0">
                <a:solidFill>
                  <a:srgbClr val="ECE6DB"/>
                </a:solidFill>
                <a:latin typeface="Space Grotesk" pitchFamily="34" charset="0"/>
                <a:ea typeface="Space Grotesk" pitchFamily="34" charset="-122"/>
                <a:cs typeface="Space Grotesk" pitchFamily="34" charset="-120"/>
              </a:rPr>
              <a:t>Peptide</a:t>
            </a:r>
            <a:endParaRPr lang="en-US" sz="8400" dirty="0"/>
          </a:p>
        </p:txBody>
      </p:sp>
      <p:pic>
        <p:nvPicPr>
          <p:cNvPr id="4" name="Image 0" descr="line">    </p:cNvPr>
          <p:cNvPicPr>
            <a:picLocks noChangeAspect="1"/>
          </p:cNvPicPr>
          <p:nvPr/>
        </p:nvPicPr>
        <p:blipFill>
          <a:blip r:embed="rId1"/>
          <a:srcRect l="-74" r="-74" t="0" b="0"/>
          <a:stretch/>
        </p:blipFill>
        <p:spPr>
          <a:xfrm>
            <a:off x="812750" y="4626138"/>
            <a:ext cx="1650936" cy="19021"/>
          </a:xfrm>
          <a:prstGeom prst="rect">
            <a:avLst/>
          </a:prstGeom>
        </p:spPr>
      </p:pic>
      <p:sp>
        <p:nvSpPr>
          <p:cNvPr id="5" name="Text 2"/>
          <p:cNvSpPr/>
          <p:nvPr/>
        </p:nvSpPr>
        <p:spPr>
          <a:xfrm>
            <a:off x="812750" y="4861026"/>
            <a:ext cx="8371790" cy="723876"/>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ECE6DB"/>
                </a:solidFill>
                <a:latin typeface="Space Grotesk" pitchFamily="34" charset="0"/>
                <a:ea typeface="Space Grotesk" pitchFamily="34" charset="-122"/>
                <a:cs typeface="Space Grotesk" pitchFamily="34" charset="-120"/>
              </a:rPr>
              <a:t>Quantum-assisted constrained optimization</a:t>
            </a:r>
            <a:endParaRPr lang="en-US" sz="2200" dirty="0"/>
          </a:p>
          <a:p>
            <a:pPr algn="l" indent="0" marL="0">
              <a:lnSpc>
                <a:spcPts val="2750"/>
              </a:lnSpc>
              <a:buNone/>
            </a:pPr>
            <a:r>
              <a:rPr lang="en-US" sz="2200" dirty="0">
                <a:solidFill>
                  <a:srgbClr val="ECE6DB"/>
                </a:solidFill>
                <a:latin typeface="Space Grotesk" pitchFamily="34" charset="0"/>
                <a:ea typeface="Space Grotesk" pitchFamily="34" charset="-122"/>
                <a:cs typeface="Space Grotesk" pitchFamily="34" charset="-120"/>
              </a:rPr>
              <a:t>for antimicrobial peptide design</a:t>
            </a:r>
            <a:endParaRPr lang="en-US" sz="2200" dirty="0"/>
          </a:p>
        </p:txBody>
      </p:sp>
      <p:sp>
        <p:nvSpPr>
          <p:cNvPr id="6" name="Text 3"/>
          <p:cNvSpPr/>
          <p:nvPr/>
        </p:nvSpPr>
        <p:spPr>
          <a:xfrm>
            <a:off x="812750" y="5775370"/>
            <a:ext cx="9156679" cy="295235"/>
          </a:xfrm>
          <a:prstGeom prst="rect">
            <a:avLst/>
          </a:prstGeom>
          <a:noFill/>
          <a:ln/>
        </p:spPr>
        <p:txBody>
          <a:bodyPr wrap="square" lIns="0" tIns="0" rIns="0" bIns="0" rtlCol="0" anchor="t">
            <a:normAutofit/>
          </a:bodyPr>
          <a:lstStyle/>
          <a:p>
            <a:pPr algn="l" indent="0" marL="0">
              <a:lnSpc>
                <a:spcPts val="2125"/>
              </a:lnSpc>
              <a:buNone/>
            </a:pPr>
            <a:r>
              <a:rPr lang="en-US" sz="1250" dirty="0">
                <a:solidFill>
                  <a:srgbClr val="938D83"/>
                </a:solidFill>
                <a:latin typeface="JetBrains Mono" pitchFamily="49" charset="0"/>
                <a:ea typeface="JetBrains Mono" pitchFamily="49" charset="-122"/>
                <a:cs typeface="JetBrains Mono" pitchFamily="49" charset="-120"/>
              </a:rPr>
              <a:t>189 tests · Qiskit 2.5.2 · QAOA on ibm_fez, job db16cahb694s73drs9vg</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214"/>
        </a:solidFill>
      </p:bgPr>
    </p:bg>
    <p:spTree>
      <p:nvGrpSpPr>
        <p:cNvPr id="1" name=""/>
        <p:cNvGrpSpPr/>
        <p:nvPr/>
      </p:nvGrpSpPr>
      <p:grpSpPr>
        <a:xfrm>
          <a:off x="0" y="0"/>
          <a:ext cx="0" cy="0"/>
          <a:chOff x="0" y="0"/>
          <a:chExt cx="0" cy="0"/>
        </a:xfrm>
      </p:grpSpPr>
      <p:sp>
        <p:nvSpPr>
          <p:cNvPr id="2" name="Text 0"/>
          <p:cNvSpPr/>
          <p:nvPr>
            <p:ph type="title"/>
          </p:nvPr>
        </p:nvSpPr>
        <p:spPr>
          <a:xfrm>
            <a:off x="812750" y="1945075"/>
            <a:ext cx="10883421" cy="1602518"/>
          </a:xfrm>
          <a:prstGeom prst="rect">
            <a:avLst/>
          </a:prstGeom>
          <a:noFill/>
          <a:ln/>
        </p:spPr>
        <p:txBody>
          <a:bodyPr wrap="square" lIns="0" tIns="0" rIns="0" bIns="0" rtlCol="0" anchor="t">
            <a:normAutofit/>
          </a:bodyPr>
          <a:lstStyle/>
          <a:p>
            <a:pPr algn="l" indent="0" marL="0">
              <a:lnSpc>
                <a:spcPts val="4140"/>
              </a:lnSpc>
              <a:buNone/>
            </a:pPr>
            <a:r>
              <a:rPr lang="en-US" sz="3600" b="0" i="0" spc="-125" kern="0" dirty="0">
                <a:solidFill>
                  <a:srgbClr val="ECE6DB"/>
                </a:solidFill>
                <a:latin typeface="Space Grotesk" pitchFamily="34" charset="0"/>
                <a:ea typeface="Space Grotesk" pitchFamily="34" charset="-122"/>
                <a:cs typeface="Space Grotesk" pitchFamily="34" charset="-120"/>
              </a:rPr>
              <a:t>The structure that makes a peptide</a:t>
            </a:r>
            <a:endParaRPr lang="en-US" sz="3600" dirty="0"/>
          </a:p>
          <a:p>
            <a:pPr algn="l" indent="0" marL="0">
              <a:lnSpc>
                <a:spcPts val="4140"/>
              </a:lnSpc>
              <a:buNone/>
            </a:pPr>
            <a:r>
              <a:rPr lang="en-US" sz="3600" b="0" i="0" spc="-125" kern="0" dirty="0">
                <a:solidFill>
                  <a:srgbClr val="ECE6DB"/>
                </a:solidFill>
                <a:latin typeface="Space Grotesk" pitchFamily="34" charset="0"/>
                <a:ea typeface="Space Grotesk" pitchFamily="34" charset="-122"/>
                <a:cs typeface="Space Grotesk" pitchFamily="34" charset="-120"/>
              </a:rPr>
              <a:t>kill bacteria is the same structure</a:t>
            </a:r>
            <a:endParaRPr lang="en-US" sz="3600" dirty="0"/>
          </a:p>
          <a:p>
            <a:pPr algn="l" indent="0" marL="0">
              <a:lnSpc>
                <a:spcPts val="4140"/>
              </a:lnSpc>
              <a:buNone/>
            </a:pPr>
            <a:r>
              <a:rPr lang="en-US" sz="3600" b="0" i="0" spc="-125" kern="0" dirty="0">
                <a:solidFill>
                  <a:srgbClr val="ECE6DB"/>
                </a:solidFill>
                <a:latin typeface="Space Grotesk" pitchFamily="34" charset="0"/>
                <a:ea typeface="Space Grotesk" pitchFamily="34" charset="-122"/>
                <a:cs typeface="Space Grotesk" pitchFamily="34" charset="-120"/>
              </a:rPr>
              <a:t>that makes it lyse your red blood cells.</a:t>
            </a:r>
            <a:endParaRPr lang="en-US" sz="3600" dirty="0"/>
          </a:p>
        </p:txBody>
      </p:sp>
      <p:pic>
        <p:nvPicPr>
          <p:cNvPr id="3" name="Image 0" descr="line">    </p:cNvPr>
          <p:cNvPicPr>
            <a:picLocks noChangeAspect="1"/>
          </p:cNvPicPr>
          <p:nvPr/>
        </p:nvPicPr>
        <p:blipFill>
          <a:blip r:embed="rId1"/>
          <a:srcRect l="0" r="0" t="0" b="0"/>
          <a:stretch/>
        </p:blipFill>
        <p:spPr>
          <a:xfrm>
            <a:off x="812750" y="3826974"/>
            <a:ext cx="10566428" cy="6350"/>
          </a:xfrm>
          <a:prstGeom prst="rect">
            <a:avLst/>
          </a:prstGeom>
        </p:spPr>
      </p:pic>
      <p:sp>
        <p:nvSpPr>
          <p:cNvPr id="4" name="Text 1"/>
          <p:cNvSpPr/>
          <p:nvPr/>
        </p:nvSpPr>
        <p:spPr>
          <a:xfrm>
            <a:off x="812750" y="4138095"/>
            <a:ext cx="9156679" cy="596921"/>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938D83"/>
                </a:solidFill>
                <a:latin typeface="Space Grotesk" pitchFamily="34" charset="0"/>
                <a:ea typeface="Space Grotesk" pitchFamily="34" charset="-122"/>
                <a:cs typeface="Space Grotesk" pitchFamily="34" charset="-120"/>
              </a:rPr>
              <a:t>Improving either property alone is easy. The trade-off is the problem worth solving, and it is what a medicinal chemist actually asks about: which two or three substitutions should I make?</a:t>
            </a:r>
            <a:endParaRPr lang="en-US" sz="1500" dirty="0"/>
          </a:p>
        </p:txBody>
      </p:sp>
      <p:sp>
        <p:nvSpPr>
          <p:cNvPr id="5" name="Text 2"/>
          <p:cNvSpPr/>
          <p:nvPr/>
        </p:nvSpPr>
        <p:spPr>
          <a:xfrm>
            <a:off x="9804396" y="6238277"/>
            <a:ext cx="1574781" cy="23870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57F75"/>
                </a:solidFill>
                <a:latin typeface="JetBrains Mono" pitchFamily="49" charset="0"/>
                <a:ea typeface="JetBrains Mono" pitchFamily="49" charset="-122"/>
                <a:cs typeface="JetBrains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C"/>
        </a:solidFill>
      </p:bgPr>
    </p:bg>
    <p:spTree>
      <p:nvGrpSpPr>
        <p:cNvPr id="1" name=""/>
        <p:cNvGrpSpPr/>
        <p:nvPr/>
      </p:nvGrpSpPr>
      <p:grpSpPr>
        <a:xfrm>
          <a:off x="0" y="0"/>
          <a:ext cx="0" cy="0"/>
          <a:chOff x="0" y="0"/>
          <a:chExt cx="0" cy="0"/>
        </a:xfrm>
      </p:grpSpPr>
      <p:sp>
        <p:nvSpPr>
          <p:cNvPr id="2" name="Text 0"/>
          <p:cNvSpPr/>
          <p:nvPr/>
        </p:nvSpPr>
        <p:spPr>
          <a:xfrm>
            <a:off x="812750" y="1711243"/>
            <a:ext cx="10883421" cy="238702"/>
          </a:xfrm>
          <a:prstGeom prst="rect">
            <a:avLst/>
          </a:prstGeom>
          <a:noFill/>
          <a:ln/>
        </p:spPr>
        <p:txBody>
          <a:bodyPr wrap="square" lIns="0" tIns="0" rIns="0" bIns="0" rtlCol="0" anchor="t">
            <a:normAutofit/>
          </a:bodyPr>
          <a:lstStyle/>
          <a:p>
            <a:pPr algn="l" indent="0" marL="0">
              <a:lnSpc>
                <a:spcPts val="1680"/>
              </a:lnSpc>
              <a:buNone/>
            </a:pPr>
            <a:r>
              <a:rPr lang="en-US" sz="1200" spc="120" kern="0" dirty="0">
                <a:solidFill>
                  <a:srgbClr val="E3A23C"/>
                </a:solidFill>
                <a:latin typeface="JetBrains Mono" pitchFamily="49" charset="0"/>
                <a:ea typeface="JetBrains Mono" pitchFamily="49" charset="-122"/>
                <a:cs typeface="JetBrains Mono" pitchFamily="49" charset="-120"/>
              </a:rPr>
              <a:t>THE PROBLEM, STATED</a:t>
            </a:r>
            <a:endParaRPr lang="en-US" sz="1200" dirty="0"/>
          </a:p>
        </p:txBody>
      </p:sp>
      <p:sp>
        <p:nvSpPr>
          <p:cNvPr id="3" name="Text 1"/>
          <p:cNvSpPr/>
          <p:nvPr/>
        </p:nvSpPr>
        <p:spPr>
          <a:xfrm>
            <a:off x="812750" y="2178529"/>
            <a:ext cx="10883421" cy="406339"/>
          </a:xfrm>
          <a:prstGeom prst="rect">
            <a:avLst/>
          </a:prstGeom>
          <a:noFill/>
          <a:ln/>
        </p:spPr>
        <p:txBody>
          <a:bodyPr wrap="none" lIns="0" tIns="0" rIns="0" bIns="0" rtlCol="0" anchor="t">
            <a:normAutofit/>
          </a:bodyPr>
          <a:lstStyle/>
          <a:p>
            <a:pPr algn="l" indent="0" marL="0">
              <a:lnSpc>
                <a:spcPts val="3000"/>
              </a:lnSpc>
              <a:buNone/>
            </a:pPr>
            <a:r>
              <a:rPr lang="en-US" sz="2000" dirty="0">
                <a:solidFill>
                  <a:srgbClr val="ECE6DB"/>
                </a:solidFill>
                <a:latin typeface="JetBrains Mono" pitchFamily="49" charset="0"/>
                <a:ea typeface="JetBrains Mono" pitchFamily="49" charset="-122"/>
                <a:cs typeface="JetBrains Mono" pitchFamily="49" charset="-120"/>
              </a:rPr>
              <a:t>maximise ΔS(x) = Σ_i Δ_i x_i + Σ_i&lt;j Δ_ij x_i x_j</a:t>
            </a:r>
            <a:endParaRPr lang="en-US" sz="2000" dirty="0"/>
          </a:p>
        </p:txBody>
      </p:sp>
      <p:sp>
        <p:nvSpPr>
          <p:cNvPr id="4" name="Text 2"/>
          <p:cNvSpPr/>
          <p:nvPr/>
        </p:nvSpPr>
        <p:spPr>
          <a:xfrm>
            <a:off x="812750" y="2813452"/>
            <a:ext cx="10883421" cy="406339"/>
          </a:xfrm>
          <a:prstGeom prst="rect">
            <a:avLst/>
          </a:prstGeom>
          <a:noFill/>
          <a:ln/>
        </p:spPr>
        <p:txBody>
          <a:bodyPr wrap="none" lIns="0" tIns="0" rIns="0" bIns="0" rtlCol="0" anchor="t">
            <a:normAutofit/>
          </a:bodyPr>
          <a:lstStyle/>
          <a:p>
            <a:pPr algn="l" indent="0" marL="0">
              <a:lnSpc>
                <a:spcPts val="3000"/>
              </a:lnSpc>
              <a:buNone/>
            </a:pPr>
            <a:r>
              <a:rPr lang="en-US" sz="2000" dirty="0">
                <a:solidFill>
                  <a:srgbClr val="E3A23C"/>
                </a:solidFill>
                <a:latin typeface="JetBrains Mono" pitchFamily="49" charset="0"/>
                <a:ea typeface="JetBrains Mono" pitchFamily="49" charset="-122"/>
                <a:cs typeface="JetBrains Mono" pitchFamily="49" charset="-120"/>
              </a:rPr>
              <a:t>subject to Σ_i x_i ≤ K x_i + x_j ≤ 1 x_i ∈ {0,1}</a:t>
            </a:r>
            <a:endParaRPr lang="en-US" sz="2000" dirty="0"/>
          </a:p>
        </p:txBody>
      </p:sp>
      <p:pic>
        <p:nvPicPr>
          <p:cNvPr id="5" name="Image 0" descr="line">    </p:cNvPr>
          <p:cNvPicPr>
            <a:picLocks noChangeAspect="1"/>
          </p:cNvPicPr>
          <p:nvPr/>
        </p:nvPicPr>
        <p:blipFill>
          <a:blip r:embed="rId1"/>
          <a:srcRect l="0" r="0" t="0" b="0"/>
          <a:stretch/>
        </p:blipFill>
        <p:spPr>
          <a:xfrm>
            <a:off x="812750" y="3448376"/>
            <a:ext cx="10566428" cy="6350"/>
          </a:xfrm>
          <a:prstGeom prst="rect">
            <a:avLst/>
          </a:prstGeom>
        </p:spPr>
      </p:pic>
      <p:sp>
        <p:nvSpPr>
          <p:cNvPr id="6" name="Text 3"/>
          <p:cNvSpPr/>
          <p:nvPr/>
        </p:nvSpPr>
        <p:spPr>
          <a:xfrm>
            <a:off x="812750" y="3708699"/>
            <a:ext cx="3074020" cy="739575"/>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938D83"/>
                </a:solidFill>
                <a:latin typeface="Space Grotesk" pitchFamily="34" charset="0"/>
                <a:ea typeface="Space Grotesk" pitchFamily="34" charset="-122"/>
                <a:cs typeface="Space Grotesk" pitchFamily="34" charset="-120"/>
              </a:rPr>
              <a:t>x_k = 1 means apply substitution k. An explicit (position, from, to) triple, not an opaque latent bit.</a:t>
            </a:r>
            <a:endParaRPr lang="en-US" sz="1250" dirty="0"/>
          </a:p>
        </p:txBody>
      </p:sp>
      <p:sp>
        <p:nvSpPr>
          <p:cNvPr id="7" name="Text 4"/>
          <p:cNvSpPr/>
          <p:nvPr/>
        </p:nvSpPr>
        <p:spPr>
          <a:xfrm>
            <a:off x="4241727" y="3708699"/>
            <a:ext cx="3074020" cy="739575"/>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938D83"/>
                </a:solidFill>
                <a:latin typeface="Space Grotesk" pitchFamily="34" charset="0"/>
                <a:ea typeface="Space Grotesk" pitchFamily="34" charset="-122"/>
                <a:cs typeface="Space Grotesk" pitchFamily="34" charset="-120"/>
              </a:rPr>
              <a:t>Δ_i and Δ_ij are first- and second-order finite differences of the score S, taken on real mutant sequences.</a:t>
            </a:r>
            <a:endParaRPr lang="en-US" sz="1250" dirty="0"/>
          </a:p>
        </p:txBody>
      </p:sp>
      <p:sp>
        <p:nvSpPr>
          <p:cNvPr id="8" name="Text 5"/>
          <p:cNvSpPr/>
          <p:nvPr/>
        </p:nvSpPr>
        <p:spPr>
          <a:xfrm>
            <a:off x="7670705" y="3708699"/>
            <a:ext cx="3819727" cy="739575"/>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938D83"/>
                </a:solidFill>
                <a:latin typeface="Space Grotesk" pitchFamily="34" charset="0"/>
                <a:ea typeface="Space Grotesk" pitchFamily="34" charset="-122"/>
                <a:cs typeface="Space Grotesk" pitchFamily="34" charset="-120"/>
              </a:rPr>
              <a:t>A mutation budget K plus pairwise exclusivity from the conflict graph. Combinatorial, not box constraints.</a:t>
            </a:r>
            <a:endParaRPr lang="en-US" sz="1250" dirty="0"/>
          </a:p>
        </p:txBody>
      </p:sp>
      <p:sp>
        <p:nvSpPr>
          <p:cNvPr id="9" name="Text 6"/>
          <p:cNvSpPr/>
          <p:nvPr/>
        </p:nvSpPr>
        <p:spPr>
          <a:xfrm>
            <a:off x="812750" y="4676859"/>
            <a:ext cx="10883421" cy="292065"/>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3A23C"/>
                </a:solidFill>
                <a:latin typeface="Space Grotesk" pitchFamily="34" charset="0"/>
                <a:ea typeface="Space Grotesk" pitchFamily="34" charset="-122"/>
                <a:cs typeface="Space Grotesk" pitchFamily="34" charset="-120"/>
              </a:rPr>
              <a:t>The quantum computer is not simulating protein folding. It solves that subset-selection problem.</a:t>
            </a:r>
            <a:endParaRPr lang="en-US" sz="1500" dirty="0"/>
          </a:p>
        </p:txBody>
      </p:sp>
      <p:sp>
        <p:nvSpPr>
          <p:cNvPr id="10" name="Text 7"/>
          <p:cNvSpPr/>
          <p:nvPr/>
        </p:nvSpPr>
        <p:spPr>
          <a:xfrm>
            <a:off x="9804396" y="6238278"/>
            <a:ext cx="1574781" cy="23870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57F75"/>
                </a:solidFill>
                <a:latin typeface="JetBrains Mono" pitchFamily="49" charset="0"/>
                <a:ea typeface="JetBrains Mono" pitchFamily="49" charset="-122"/>
                <a:cs typeface="JetBrains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0C"/>
        </a:solidFill>
      </p:bgPr>
    </p:bg>
    <p:spTree>
      <p:nvGrpSpPr>
        <p:cNvPr id="1" name=""/>
        <p:cNvGrpSpPr/>
        <p:nvPr/>
      </p:nvGrpSpPr>
      <p:grpSpPr>
        <a:xfrm>
          <a:off x="0" y="0"/>
          <a:ext cx="0" cy="0"/>
          <a:chOff x="0" y="0"/>
          <a:chExt cx="0" cy="0"/>
        </a:xfrm>
      </p:grpSpPr>
      <p:sp>
        <p:nvSpPr>
          <p:cNvPr id="2" name="Text 0"/>
          <p:cNvSpPr/>
          <p:nvPr/>
        </p:nvSpPr>
        <p:spPr>
          <a:xfrm>
            <a:off x="812750" y="812749"/>
            <a:ext cx="3074020" cy="238702"/>
          </a:xfrm>
          <a:prstGeom prst="rect">
            <a:avLst/>
          </a:prstGeom>
          <a:noFill/>
          <a:ln/>
        </p:spPr>
        <p:txBody>
          <a:bodyPr wrap="square" lIns="0" tIns="0" rIns="0" bIns="0" rtlCol="0" anchor="t">
            <a:normAutofit/>
          </a:bodyPr>
          <a:lstStyle/>
          <a:p>
            <a:pPr algn="l" indent="0" marL="0">
              <a:lnSpc>
                <a:spcPts val="1680"/>
              </a:lnSpc>
              <a:buNone/>
            </a:pPr>
            <a:r>
              <a:rPr lang="en-US" sz="1200" spc="120" kern="0" dirty="0">
                <a:solidFill>
                  <a:srgbClr val="E3A23C"/>
                </a:solidFill>
                <a:latin typeface="JetBrains Mono" pitchFamily="49" charset="0"/>
                <a:ea typeface="JetBrains Mono" pitchFamily="49" charset="-122"/>
                <a:cs typeface="JetBrains Mono" pitchFamily="49" charset="-120"/>
              </a:rPr>
              <a:t>WHAT IS NEW</a:t>
            </a:r>
            <a:endParaRPr lang="en-US" sz="1200" dirty="0"/>
          </a:p>
        </p:txBody>
      </p:sp>
      <p:sp>
        <p:nvSpPr>
          <p:cNvPr id="3" name="Text 1"/>
          <p:cNvSpPr/>
          <p:nvPr>
            <p:ph type="title"/>
          </p:nvPr>
        </p:nvSpPr>
        <p:spPr>
          <a:xfrm>
            <a:off x="812750" y="1203802"/>
            <a:ext cx="3074020" cy="1324456"/>
          </a:xfrm>
          <a:prstGeom prst="rect">
            <a:avLst/>
          </a:prstGeom>
          <a:noFill/>
          <a:ln/>
        </p:spPr>
        <p:txBody>
          <a:bodyPr wrap="square" lIns="0" tIns="0" rIns="0" bIns="0" rtlCol="0" anchor="t">
            <a:normAutofit/>
          </a:bodyPr>
          <a:lstStyle/>
          <a:p>
            <a:pPr algn="l" indent="0" marL="0">
              <a:lnSpc>
                <a:spcPts val="3410"/>
              </a:lnSpc>
              <a:buNone/>
            </a:pPr>
            <a:r>
              <a:rPr lang="en-US" sz="3100" b="1" i="0" spc="-110" kern="0" dirty="0">
                <a:solidFill>
                  <a:srgbClr val="ECE6DB"/>
                </a:solidFill>
                <a:latin typeface="Space Grotesk" pitchFamily="34" charset="0"/>
                <a:ea typeface="Space Grotesk" pitchFamily="34" charset="-122"/>
                <a:cs typeface="Space Grotesk" pitchFamily="34" charset="-120"/>
              </a:rPr>
              <a:t>The coefficients</a:t>
            </a:r>
            <a:endParaRPr lang="en-US" sz="3100" dirty="0"/>
          </a:p>
          <a:p>
            <a:pPr algn="l" indent="0" marL="0">
              <a:lnSpc>
                <a:spcPts val="3410"/>
              </a:lnSpc>
              <a:buNone/>
            </a:pPr>
            <a:r>
              <a:rPr lang="en-US" sz="3100" b="1" i="0" spc="-110" kern="0" dirty="0">
                <a:solidFill>
                  <a:srgbClr val="ECE6DB"/>
                </a:solidFill>
                <a:latin typeface="Space Grotesk" pitchFamily="34" charset="0"/>
                <a:ea typeface="Space Grotesk" pitchFamily="34" charset="-122"/>
                <a:cs typeface="Space Grotesk" pitchFamily="34" charset="-120"/>
              </a:rPr>
              <a:t>are computed,</a:t>
            </a:r>
            <a:endParaRPr lang="en-US" sz="3100" dirty="0"/>
          </a:p>
          <a:p>
            <a:pPr algn="l" indent="0" marL="0">
              <a:lnSpc>
                <a:spcPts val="3410"/>
              </a:lnSpc>
              <a:buNone/>
            </a:pPr>
            <a:r>
              <a:rPr lang="en-US" sz="3100" b="1" i="0" spc="-110" kern="0" dirty="0">
                <a:solidFill>
                  <a:srgbClr val="ECE6DB"/>
                </a:solidFill>
                <a:latin typeface="Space Grotesk" pitchFamily="34" charset="0"/>
                <a:ea typeface="Space Grotesk" pitchFamily="34" charset="-122"/>
                <a:cs typeface="Space Grotesk" pitchFamily="34" charset="-120"/>
              </a:rPr>
              <a:t>not fitted.</a:t>
            </a:r>
            <a:endParaRPr lang="en-US" sz="3100" dirty="0"/>
          </a:p>
        </p:txBody>
      </p:sp>
      <p:sp>
        <p:nvSpPr>
          <p:cNvPr id="4" name="Text 2"/>
          <p:cNvSpPr/>
          <p:nvPr/>
        </p:nvSpPr>
        <p:spPr>
          <a:xfrm>
            <a:off x="812750" y="2680610"/>
            <a:ext cx="3074020" cy="1453751"/>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938D83"/>
                </a:solidFill>
                <a:latin typeface="Space Grotesk" pitchFamily="34" charset="0"/>
                <a:ea typeface="Space Grotesk" pitchFamily="34" charset="-122"/>
                <a:cs typeface="Space Grotesk" pitchFamily="34" charset="-120"/>
              </a:rPr>
              <a:t>Each one comes from running the ML models on the corresponding mutant. 92 to 106 model calls at N=14. That removes a whole layer of surrogate error and makes the error that remains measurable.</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314865" y="873207"/>
          <a:ext cx="7038800" cy="3628391"/>
        </p:xfrm>
        <a:graphic>
          <a:graphicData uri="http://schemas.openxmlformats.org/drawingml/2006/table">
            <a:tbl>
              <a:tblPr/>
              <a:tblGrid>
                <a:gridCol w="1970864"/>
                <a:gridCol w="2533968"/>
                <a:gridCol w="2533968"/>
              </a:tblGrid>
              <a:tr h="509931">
                <a:tc>
                  <a:txBody>
                    <a:bodyPr/>
                    <a:lstStyle/>
                    <a:p>
                      <a:pPr indent="0" marL="0">
                        <a:lnSpc>
                          <a:spcPts val="2240"/>
                        </a:lnSpc>
                        <a:buNone/>
                      </a:pPr>
                      <a:r>
                        <a:rPr lang="en-US" sz="1600" dirty="0">
                          <a:solidFill>
                            <a:srgbClr val="857F75"/>
                          </a:solidFill>
                          <a:latin typeface="Space Grotesk" pitchFamily="34" charset="0"/>
                          <a:ea typeface="Space Grotesk" pitchFamily="34" charset="-122"/>
                          <a:cs typeface="Space Grotesk" pitchFamily="34" charset="-120"/>
                        </a:rPr>
                        <a:t>dimension</a:t>
                      </a:r>
                      <a:endParaRPr lang="en-US" sz="1600" dirty="0">
                        <a:latin typeface="Space Grotesk" charset="0"/>
                        <a:ea typeface="Space Grotesk" charset="0"/>
                        <a:cs typeface="Space Grotesk" charset="0"/>
                      </a:endParaRPr>
                    </a:p>
                  </a:txBody>
                  <a:tcPr marL="0" marR="0" marT="107950" marB="107950" anchor="t">
                    <a:lnL w="12700" cap="flat" cmpd="sng" algn="ctr">
                      <a:solidFill>
                        <a:srgbClr val="403F3F"/>
                      </a:solidFill>
                      <a:prstDash val="solid"/>
                      <a:round/>
                      <a:headEnd type="none" w="med" len="med"/>
                      <a:tailEnd type="none" w="med" len="med"/>
                    </a:lnL>
                    <a:lnR w="12700" cap="flat" cmpd="sng" algn="ctr">
                      <a:solidFill>
                        <a:srgbClr val="4E4E4E"/>
                      </a:solidFill>
                      <a:prstDash val="solid"/>
                      <a:round/>
                      <a:headEnd type="none" w="med" len="med"/>
                      <a:tailEnd type="none" w="med" len="med"/>
                    </a:lnR>
                    <a:lnT w="12700" cap="flat" cmpd="sng" algn="ctr">
                      <a:solidFill>
                        <a:srgbClr val="403F3F"/>
                      </a:solidFill>
                      <a:prstDash val="solid"/>
                      <a:round/>
                      <a:headEnd type="none" w="med" len="med"/>
                      <a:tailEnd type="none" w="med" len="med"/>
                    </a:lnT>
                    <a:lnB w="12700" cap="flat" cmpd="sng" algn="ctr">
                      <a:solidFill>
                        <a:srgbClr val="4E4E4E"/>
                      </a:solidFill>
                      <a:prstDash val="solid"/>
                      <a:round/>
                      <a:headEnd type="none" w="med" len="med"/>
                      <a:tailEnd type="none" w="med" len="med"/>
                    </a:lnB>
                    <a:solidFill>
                      <a:srgbClr val="1E1E1F"/>
                    </a:solidFill>
                  </a:tcPr>
                </a:tc>
                <a:tc>
                  <a:txBody>
                    <a:bodyPr/>
                    <a:lstStyle/>
                    <a:p>
                      <a:pPr indent="0" marL="0">
                        <a:lnSpc>
                          <a:spcPts val="2240"/>
                        </a:lnSpc>
                        <a:buNone/>
                      </a:pPr>
                      <a:r>
                        <a:rPr lang="en-US" sz="1600" dirty="0">
                          <a:solidFill>
                            <a:srgbClr val="857F75"/>
                          </a:solidFill>
                          <a:latin typeface="Space Grotesk" pitchFamily="34" charset="0"/>
                          <a:ea typeface="Space Grotesk" pitchFamily="34" charset="-122"/>
                          <a:cs typeface="Space Grotesk" pitchFamily="34" charset="-120"/>
                        </a:rPr>
                        <a:t>Tučs et al. 2023</a:t>
                      </a:r>
                      <a:endParaRPr lang="en-US" sz="1600" dirty="0">
                        <a:latin typeface="Space Grotesk" charset="0"/>
                        <a:ea typeface="Space Grotesk" charset="0"/>
                        <a:cs typeface="Space Grotesk" charset="0"/>
                      </a:endParaRPr>
                    </a:p>
                  </a:txBody>
                  <a:tcPr marL="0" marR="0" marT="107950" marB="107950" anchor="t">
                    <a:lnL w="12700" cap="flat" cmpd="sng" algn="ctr">
                      <a:solidFill>
                        <a:srgbClr val="4E4E4E"/>
                      </a:solidFill>
                      <a:prstDash val="solid"/>
                      <a:round/>
                      <a:headEnd type="none" w="med" len="med"/>
                      <a:tailEnd type="none" w="med" len="med"/>
                    </a:lnL>
                    <a:lnR w="12700" cap="flat" cmpd="sng" algn="ctr">
                      <a:solidFill>
                        <a:srgbClr val="4E4E4E"/>
                      </a:solidFill>
                      <a:prstDash val="solid"/>
                      <a:round/>
                      <a:headEnd type="none" w="med" len="med"/>
                      <a:tailEnd type="none" w="med" len="med"/>
                    </a:lnR>
                    <a:lnT w="12700" cap="flat" cmpd="sng" algn="ctr">
                      <a:solidFill>
                        <a:srgbClr val="403F3F"/>
                      </a:solidFill>
                      <a:prstDash val="solid"/>
                      <a:round/>
                      <a:headEnd type="none" w="med" len="med"/>
                      <a:tailEnd type="none" w="med" len="med"/>
                    </a:lnT>
                    <a:lnB w="12700" cap="flat" cmpd="sng" algn="ctr">
                      <a:solidFill>
                        <a:srgbClr val="4E4E4E"/>
                      </a:solidFill>
                      <a:prstDash val="solid"/>
                      <a:round/>
                      <a:headEnd type="none" w="med" len="med"/>
                      <a:tailEnd type="none" w="med" len="med"/>
                    </a:lnB>
                    <a:solidFill>
                      <a:srgbClr val="1E1E1F"/>
                    </a:solidFill>
                  </a:tcPr>
                </a:tc>
                <a:tc>
                  <a:txBody>
                    <a:bodyPr/>
                    <a:lstStyle/>
                    <a:p>
                      <a:pPr indent="0" marL="0">
                        <a:lnSpc>
                          <a:spcPts val="2240"/>
                        </a:lnSpc>
                        <a:buNone/>
                      </a:pPr>
                      <a:r>
                        <a:rPr lang="en-US" sz="1600" dirty="0">
                          <a:solidFill>
                            <a:srgbClr val="E3A23C"/>
                          </a:solidFill>
                          <a:latin typeface="Space Grotesk" pitchFamily="34" charset="0"/>
                          <a:ea typeface="Space Grotesk" pitchFamily="34" charset="-122"/>
                          <a:cs typeface="Space Grotesk" pitchFamily="34" charset="-120"/>
                        </a:rPr>
                        <a:t>Q.Peptide</a:t>
                      </a:r>
                      <a:endParaRPr lang="en-US" sz="1600" dirty="0">
                        <a:latin typeface="Space Grotesk" charset="0"/>
                        <a:ea typeface="Space Grotesk" charset="0"/>
                        <a:cs typeface="Space Grotesk" charset="0"/>
                      </a:endParaRPr>
                    </a:p>
                  </a:txBody>
                  <a:tcPr marL="0" marR="0" marT="107950" marB="107950" anchor="t">
                    <a:lnL w="12700" cap="flat" cmpd="sng" algn="ctr">
                      <a:solidFill>
                        <a:srgbClr val="4E4E4E"/>
                      </a:solidFill>
                      <a:prstDash val="solid"/>
                      <a:round/>
                      <a:headEnd type="none" w="med" len="med"/>
                      <a:tailEnd type="none" w="med" len="med"/>
                    </a:lnL>
                    <a:lnR w="12700" cap="flat" cmpd="sng" algn="ctr">
                      <a:solidFill>
                        <a:srgbClr val="4E4E4E"/>
                      </a:solidFill>
                      <a:prstDash val="solid"/>
                      <a:round/>
                      <a:headEnd type="none" w="med" len="med"/>
                      <a:tailEnd type="none" w="med" len="med"/>
                    </a:lnR>
                    <a:lnT w="12700" cap="flat" cmpd="sng" algn="ctr">
                      <a:solidFill>
                        <a:srgbClr val="403F3F"/>
                      </a:solidFill>
                      <a:prstDash val="solid"/>
                      <a:round/>
                      <a:headEnd type="none" w="med" len="med"/>
                      <a:tailEnd type="none" w="med" len="med"/>
                    </a:lnT>
                    <a:lnB w="12700" cap="flat" cmpd="sng" algn="ctr">
                      <a:solidFill>
                        <a:srgbClr val="4E4E4E"/>
                      </a:solidFill>
                      <a:prstDash val="solid"/>
                      <a:round/>
                      <a:headEnd type="none" w="med" len="med"/>
                      <a:tailEnd type="none" w="med" len="med"/>
                    </a:lnB>
                    <a:solidFill>
                      <a:srgbClr val="1E1E1F"/>
                    </a:solidFill>
                  </a:tcPr>
                </a:tc>
              </a:tr>
              <a:tr h="794333">
                <a:tc>
                  <a:txBody>
                    <a:bodyPr/>
                    <a:lstStyle/>
                    <a:p>
                      <a:pPr indent="0" marL="0">
                        <a:lnSpc>
                          <a:spcPts val="2240"/>
                        </a:lnSpc>
                        <a:buNone/>
                      </a:pPr>
                      <a:r>
                        <a:rPr lang="en-US" sz="1600" dirty="0">
                          <a:solidFill>
                            <a:srgbClr val="938D83"/>
                          </a:solidFill>
                          <a:latin typeface="Space Grotesk" pitchFamily="34" charset="0"/>
                          <a:ea typeface="Space Grotesk" pitchFamily="34" charset="-122"/>
                          <a:cs typeface="Space Grotesk" pitchFamily="34" charset="-120"/>
                        </a:rPr>
                        <a:t>binary variables</a:t>
                      </a:r>
                      <a:endParaRPr lang="en-US" sz="1600" dirty="0">
                        <a:latin typeface="Space Grotesk" charset="0"/>
                        <a:ea typeface="Space Grotesk" charset="0"/>
                        <a:cs typeface="Space Grotesk" charset="0"/>
                      </a:endParaRPr>
                    </a:p>
                  </a:txBody>
                  <a:tcPr marL="0" marR="0" marT="107950" marB="107950" anchor="t">
                    <a:lnL w="12700" cap="flat" cmpd="sng" algn="ctr">
                      <a:solidFill>
                        <a:srgbClr val="403F3F"/>
                      </a:solidFill>
                      <a:prstDash val="solid"/>
                      <a:round/>
                      <a:headEnd type="none" w="med" len="med"/>
                      <a:tailEnd type="none" w="med" len="med"/>
                    </a:lnL>
                    <a:lnR w="12700" cap="flat" cmpd="sng" algn="ctr">
                      <a:solidFill>
                        <a:srgbClr val="403F3F"/>
                      </a:solidFill>
                      <a:prstDash val="solid"/>
                      <a:round/>
                      <a:headEnd type="none" w="med" len="med"/>
                      <a:tailEnd type="none" w="med" len="med"/>
                    </a:lnR>
                    <a:lnT w="12700" cap="flat" cmpd="sng" algn="ctr">
                      <a:solidFill>
                        <a:srgbClr val="4E4E4E"/>
                      </a:solidFill>
                      <a:prstDash val="solid"/>
                      <a:round/>
                      <a:headEnd type="none" w="med" len="med"/>
                      <a:tailEnd type="none" w="med" len="med"/>
                    </a:lnT>
                    <a:lnB w="12700" cap="flat" cmpd="sng" algn="ctr">
                      <a:solidFill>
                        <a:srgbClr val="403F3F"/>
                      </a:solidFill>
                      <a:prstDash val="solid"/>
                      <a:round/>
                      <a:headEnd type="none" w="med" len="med"/>
                      <a:tailEnd type="none" w="med" len="med"/>
                    </a:lnB>
                  </a:tcPr>
                </a:tc>
                <a:tc>
                  <a:txBody>
                    <a:bodyPr/>
                    <a:lstStyle/>
                    <a:p>
                      <a:pPr indent="0" marL="0">
                        <a:lnSpc>
                          <a:spcPts val="2240"/>
                        </a:lnSpc>
                        <a:buNone/>
                      </a:pPr>
                      <a:r>
                        <a:rPr lang="en-US" sz="1600" dirty="0">
                          <a:solidFill>
                            <a:srgbClr val="857F75"/>
                          </a:solidFill>
                          <a:latin typeface="Space Grotesk" pitchFamily="34" charset="0"/>
                          <a:ea typeface="Space Grotesk" pitchFamily="34" charset="-122"/>
                          <a:cs typeface="Space Grotesk" pitchFamily="34" charset="-120"/>
                        </a:rPr>
                        <a:t>64 opaque VAE latent bits</a:t>
                      </a:r>
                      <a:endParaRPr lang="en-US" sz="1600" dirty="0">
                        <a:latin typeface="Space Grotesk" charset="0"/>
                        <a:ea typeface="Space Grotesk" charset="0"/>
                        <a:cs typeface="Space Grotesk" charset="0"/>
                      </a:endParaRPr>
                    </a:p>
                  </a:txBody>
                  <a:tcPr marL="0" marR="0" marT="107950" marB="107950" anchor="t">
                    <a:lnL w="12700" cap="flat" cmpd="sng" algn="ctr">
                      <a:solidFill>
                        <a:srgbClr val="403F3F"/>
                      </a:solidFill>
                      <a:prstDash val="solid"/>
                      <a:round/>
                      <a:headEnd type="none" w="med" len="med"/>
                      <a:tailEnd type="none" w="med" len="med"/>
                    </a:lnL>
                    <a:lnR w="12700" cap="flat" cmpd="sng" algn="ctr">
                      <a:solidFill>
                        <a:srgbClr val="403F3F"/>
                      </a:solidFill>
                      <a:prstDash val="solid"/>
                      <a:round/>
                      <a:headEnd type="none" w="med" len="med"/>
                      <a:tailEnd type="none" w="med" len="med"/>
                    </a:lnR>
                    <a:lnT w="12700" cap="flat" cmpd="sng" algn="ctr">
                      <a:solidFill>
                        <a:srgbClr val="4E4E4E"/>
                      </a:solidFill>
                      <a:prstDash val="solid"/>
                      <a:round/>
                      <a:headEnd type="none" w="med" len="med"/>
                      <a:tailEnd type="none" w="med" len="med"/>
                    </a:lnT>
                    <a:lnB w="12700" cap="flat" cmpd="sng" algn="ctr">
                      <a:solidFill>
                        <a:srgbClr val="403F3F"/>
                      </a:solidFill>
                      <a:prstDash val="solid"/>
                      <a:round/>
                      <a:headEnd type="none" w="med" len="med"/>
                      <a:tailEnd type="none" w="med" len="med"/>
                    </a:lnB>
                  </a:tcPr>
                </a:tc>
                <a:tc>
                  <a:txBody>
                    <a:bodyPr/>
                    <a:lstStyle/>
                    <a:p>
                      <a:pPr indent="0" marL="0">
                        <a:lnSpc>
                          <a:spcPts val="2240"/>
                        </a:lnSpc>
                        <a:buNone/>
                      </a:pPr>
                      <a:r>
                        <a:rPr lang="en-US" sz="1600" dirty="0">
                          <a:solidFill>
                            <a:srgbClr val="ECE6DB"/>
                          </a:solidFill>
                          <a:latin typeface="Space Grotesk" pitchFamily="34" charset="0"/>
                          <a:ea typeface="Space Grotesk" pitchFamily="34" charset="-122"/>
                          <a:cs typeface="Space Grotesk" pitchFamily="34" charset="-120"/>
                        </a:rPr>
                        <a:t>explicit substitutions</a:t>
                      </a:r>
                      <a:endParaRPr lang="en-US" sz="1600" dirty="0">
                        <a:latin typeface="Space Grotesk" charset="0"/>
                        <a:ea typeface="Space Grotesk" charset="0"/>
                        <a:cs typeface="Space Grotesk" charset="0"/>
                      </a:endParaRPr>
                    </a:p>
                  </a:txBody>
                  <a:tcPr marL="0" marR="0" marT="107950" marB="107950" anchor="t">
                    <a:lnL w="12700" cap="flat" cmpd="sng" algn="ctr">
                      <a:solidFill>
                        <a:srgbClr val="403F3F"/>
                      </a:solidFill>
                      <a:prstDash val="solid"/>
                      <a:round/>
                      <a:headEnd type="none" w="med" len="med"/>
                      <a:tailEnd type="none" w="med" len="med"/>
                    </a:lnL>
                    <a:lnR w="12700" cap="flat" cmpd="sng" algn="ctr">
                      <a:solidFill>
                        <a:srgbClr val="403F3F"/>
                      </a:solidFill>
                      <a:prstDash val="solid"/>
                      <a:round/>
                      <a:headEnd type="none" w="med" len="med"/>
                      <a:tailEnd type="none" w="med" len="med"/>
                    </a:lnR>
                    <a:lnT w="12700" cap="flat" cmpd="sng" algn="ctr">
                      <a:solidFill>
                        <a:srgbClr val="4E4E4E"/>
                      </a:solidFill>
                      <a:prstDash val="solid"/>
                      <a:round/>
                      <a:headEnd type="none" w="med" len="med"/>
                      <a:tailEnd type="none" w="med" len="med"/>
                    </a:lnT>
                    <a:lnB w="12700" cap="flat" cmpd="sng" algn="ctr">
                      <a:solidFill>
                        <a:srgbClr val="403F3F"/>
                      </a:solidFill>
                      <a:prstDash val="solid"/>
                      <a:round/>
                      <a:headEnd type="none" w="med" len="med"/>
                      <a:tailEnd type="none" w="med" len="med"/>
                    </a:lnB>
                  </a:tcPr>
                </a:tc>
              </a:tr>
              <a:tr h="509931">
                <a:tc>
                  <a:txBody>
                    <a:bodyPr/>
                    <a:lstStyle/>
                    <a:p>
                      <a:pPr indent="0" marL="0">
                        <a:lnSpc>
                          <a:spcPts val="2240"/>
                        </a:lnSpc>
                        <a:buNone/>
                      </a:pPr>
                      <a:r>
                        <a:rPr lang="en-US" sz="1600" dirty="0">
                          <a:solidFill>
                            <a:srgbClr val="938D83"/>
                          </a:solidFill>
                          <a:latin typeface="Space Grotesk" pitchFamily="34" charset="0"/>
                          <a:ea typeface="Space Grotesk" pitchFamily="34" charset="-122"/>
                          <a:cs typeface="Space Grotesk" pitchFamily="34" charset="-120"/>
                        </a:rPr>
                        <a:t>QUBO coefficients</a:t>
                      </a:r>
                      <a:endParaRPr lang="en-US" sz="1600" dirty="0">
                        <a:latin typeface="Space Grotesk" charset="0"/>
                        <a:ea typeface="Space Grotesk" charset="0"/>
                        <a:cs typeface="Space Grotesk" charset="0"/>
                      </a:endParaRPr>
                    </a:p>
                  </a:txBody>
                  <a:tcPr marL="0" marR="0" marT="107950" marB="107950" anchor="t">
                    <a:lnL w="12700" cap="flat" cmpd="sng" algn="ctr">
                      <a:solidFill>
                        <a:srgbClr val="403F3F"/>
                      </a:solidFill>
                      <a:prstDash val="solid"/>
                      <a:round/>
                      <a:headEnd type="none" w="med" len="med"/>
                      <a:tailEnd type="none" w="med" len="med"/>
                    </a:lnL>
                    <a:lnR w="12700" cap="flat" cmpd="sng" algn="ctr">
                      <a:solidFill>
                        <a:srgbClr val="403F3F"/>
                      </a:solidFill>
                      <a:prstDash val="solid"/>
                      <a:round/>
                      <a:headEnd type="none" w="med" len="med"/>
                      <a:tailEnd type="none" w="med" len="med"/>
                    </a:lnR>
                    <a:lnT w="12700" cap="flat" cmpd="sng" algn="ctr">
                      <a:solidFill>
                        <a:srgbClr val="403F3F"/>
                      </a:solidFill>
                      <a:prstDash val="solid"/>
                      <a:round/>
                      <a:headEnd type="none" w="med" len="med"/>
                      <a:tailEnd type="none" w="med" len="med"/>
                    </a:lnT>
                    <a:lnB w="12700" cap="flat" cmpd="sng" algn="ctr">
                      <a:solidFill>
                        <a:srgbClr val="403F3F"/>
                      </a:solidFill>
                      <a:prstDash val="solid"/>
                      <a:round/>
                      <a:headEnd type="none" w="med" len="med"/>
                      <a:tailEnd type="none" w="med" len="med"/>
                    </a:lnB>
                  </a:tcPr>
                </a:tc>
                <a:tc>
                  <a:txBody>
                    <a:bodyPr/>
                    <a:lstStyle/>
                    <a:p>
                      <a:pPr indent="0" marL="0">
                        <a:lnSpc>
                          <a:spcPts val="2240"/>
                        </a:lnSpc>
                        <a:buNone/>
                      </a:pPr>
                      <a:r>
                        <a:rPr lang="en-US" sz="1600" dirty="0">
                          <a:solidFill>
                            <a:srgbClr val="857F75"/>
                          </a:solidFill>
                          <a:latin typeface="Space Grotesk" pitchFamily="34" charset="0"/>
                          <a:ea typeface="Space Grotesk" pitchFamily="34" charset="-122"/>
                          <a:cs typeface="Space Grotesk" pitchFamily="34" charset="-120"/>
                        </a:rPr>
                        <a:t>fitted to sampled scores</a:t>
                      </a:r>
                      <a:endParaRPr lang="en-US" sz="1600" dirty="0">
                        <a:latin typeface="Space Grotesk" charset="0"/>
                        <a:ea typeface="Space Grotesk" charset="0"/>
                        <a:cs typeface="Space Grotesk" charset="0"/>
                      </a:endParaRPr>
                    </a:p>
                  </a:txBody>
                  <a:tcPr marL="0" marR="0" marT="107950" marB="107950" anchor="t">
                    <a:lnL w="12700" cap="flat" cmpd="sng" algn="ctr">
                      <a:solidFill>
                        <a:srgbClr val="403F3F"/>
                      </a:solidFill>
                      <a:prstDash val="solid"/>
                      <a:round/>
                      <a:headEnd type="none" w="med" len="med"/>
                      <a:tailEnd type="none" w="med" len="med"/>
                    </a:lnL>
                    <a:lnR w="12700" cap="flat" cmpd="sng" algn="ctr">
                      <a:solidFill>
                        <a:srgbClr val="403F3F"/>
                      </a:solidFill>
                      <a:prstDash val="solid"/>
                      <a:round/>
                      <a:headEnd type="none" w="med" len="med"/>
                      <a:tailEnd type="none" w="med" len="med"/>
                    </a:lnR>
                    <a:lnT w="12700" cap="flat" cmpd="sng" algn="ctr">
                      <a:solidFill>
                        <a:srgbClr val="403F3F"/>
                      </a:solidFill>
                      <a:prstDash val="solid"/>
                      <a:round/>
                      <a:headEnd type="none" w="med" len="med"/>
                      <a:tailEnd type="none" w="med" len="med"/>
                    </a:lnT>
                    <a:lnB w="12700" cap="flat" cmpd="sng" algn="ctr">
                      <a:solidFill>
                        <a:srgbClr val="403F3F"/>
                      </a:solidFill>
                      <a:prstDash val="solid"/>
                      <a:round/>
                      <a:headEnd type="none" w="med" len="med"/>
                      <a:tailEnd type="none" w="med" len="med"/>
                    </a:lnB>
                  </a:tcPr>
                </a:tc>
                <a:tc>
                  <a:txBody>
                    <a:bodyPr/>
                    <a:lstStyle/>
                    <a:p>
                      <a:pPr indent="0" marL="0">
                        <a:lnSpc>
                          <a:spcPts val="2240"/>
                        </a:lnSpc>
                        <a:buNone/>
                      </a:pPr>
                      <a:r>
                        <a:rPr lang="en-US" sz="1600" dirty="0">
                          <a:solidFill>
                            <a:srgbClr val="E3A23C"/>
                          </a:solidFill>
                          <a:latin typeface="Space Grotesk" pitchFamily="34" charset="0"/>
                          <a:ea typeface="Space Grotesk" pitchFamily="34" charset="-122"/>
                          <a:cs typeface="Space Grotesk" pitchFamily="34" charset="-120"/>
                        </a:rPr>
                        <a:t>computed exactly</a:t>
                      </a:r>
                      <a:endParaRPr lang="en-US" sz="1600" dirty="0">
                        <a:latin typeface="Space Grotesk" charset="0"/>
                        <a:ea typeface="Space Grotesk" charset="0"/>
                        <a:cs typeface="Space Grotesk" charset="0"/>
                      </a:endParaRPr>
                    </a:p>
                  </a:txBody>
                  <a:tcPr marL="0" marR="0" marT="107950" marB="107950" anchor="t">
                    <a:lnL w="12700" cap="flat" cmpd="sng" algn="ctr">
                      <a:solidFill>
                        <a:srgbClr val="403F3F"/>
                      </a:solidFill>
                      <a:prstDash val="solid"/>
                      <a:round/>
                      <a:headEnd type="none" w="med" len="med"/>
                      <a:tailEnd type="none" w="med" len="med"/>
                    </a:lnL>
                    <a:lnR w="12700" cap="flat" cmpd="sng" algn="ctr">
                      <a:solidFill>
                        <a:srgbClr val="403F3F"/>
                      </a:solidFill>
                      <a:prstDash val="solid"/>
                      <a:round/>
                      <a:headEnd type="none" w="med" len="med"/>
                      <a:tailEnd type="none" w="med" len="med"/>
                    </a:lnR>
                    <a:lnT w="12700" cap="flat" cmpd="sng" algn="ctr">
                      <a:solidFill>
                        <a:srgbClr val="403F3F"/>
                      </a:solidFill>
                      <a:prstDash val="solid"/>
                      <a:round/>
                      <a:headEnd type="none" w="med" len="med"/>
                      <a:tailEnd type="none" w="med" len="med"/>
                    </a:lnT>
                    <a:lnB w="12700" cap="flat" cmpd="sng" algn="ctr">
                      <a:solidFill>
                        <a:srgbClr val="403F3F"/>
                      </a:solidFill>
                      <a:prstDash val="solid"/>
                      <a:round/>
                      <a:headEnd type="none" w="med" len="med"/>
                      <a:tailEnd type="none" w="med" len="med"/>
                    </a:lnB>
                  </a:tcPr>
                </a:tc>
              </a:tr>
              <a:tr h="509931">
                <a:tc>
                  <a:txBody>
                    <a:bodyPr/>
                    <a:lstStyle/>
                    <a:p>
                      <a:pPr indent="0" marL="0">
                        <a:lnSpc>
                          <a:spcPts val="2240"/>
                        </a:lnSpc>
                        <a:buNone/>
                      </a:pPr>
                      <a:r>
                        <a:rPr lang="en-US" sz="1600" dirty="0">
                          <a:solidFill>
                            <a:srgbClr val="938D83"/>
                          </a:solidFill>
                          <a:latin typeface="Space Grotesk" pitchFamily="34" charset="0"/>
                          <a:ea typeface="Space Grotesk" pitchFamily="34" charset="-122"/>
                          <a:cs typeface="Space Grotesk" pitchFamily="34" charset="-120"/>
                        </a:rPr>
                        <a:t>surrogate fidelity</a:t>
                      </a:r>
                      <a:endParaRPr lang="en-US" sz="1600" dirty="0">
                        <a:latin typeface="Space Grotesk" charset="0"/>
                        <a:ea typeface="Space Grotesk" charset="0"/>
                        <a:cs typeface="Space Grotesk" charset="0"/>
                      </a:endParaRPr>
                    </a:p>
                  </a:txBody>
                  <a:tcPr marL="0" marR="0" marT="107950" marB="107950" anchor="t">
                    <a:lnL w="12700" cap="flat" cmpd="sng" algn="ctr">
                      <a:solidFill>
                        <a:srgbClr val="403F3F"/>
                      </a:solidFill>
                      <a:prstDash val="solid"/>
                      <a:round/>
                      <a:headEnd type="none" w="med" len="med"/>
                      <a:tailEnd type="none" w="med" len="med"/>
                    </a:lnL>
                    <a:lnR w="12700" cap="flat" cmpd="sng" algn="ctr">
                      <a:solidFill>
                        <a:srgbClr val="403F3F"/>
                      </a:solidFill>
                      <a:prstDash val="solid"/>
                      <a:round/>
                      <a:headEnd type="none" w="med" len="med"/>
                      <a:tailEnd type="none" w="med" len="med"/>
                    </a:lnR>
                    <a:lnT w="12700" cap="flat" cmpd="sng" algn="ctr">
                      <a:solidFill>
                        <a:srgbClr val="403F3F"/>
                      </a:solidFill>
                      <a:prstDash val="solid"/>
                      <a:round/>
                      <a:headEnd type="none" w="med" len="med"/>
                      <a:tailEnd type="none" w="med" len="med"/>
                    </a:lnT>
                    <a:lnB w="12700" cap="flat" cmpd="sng" algn="ctr">
                      <a:solidFill>
                        <a:srgbClr val="403F3F"/>
                      </a:solidFill>
                      <a:prstDash val="solid"/>
                      <a:round/>
                      <a:headEnd type="none" w="med" len="med"/>
                      <a:tailEnd type="none" w="med" len="med"/>
                    </a:lnB>
                  </a:tcPr>
                </a:tc>
                <a:tc>
                  <a:txBody>
                    <a:bodyPr/>
                    <a:lstStyle/>
                    <a:p>
                      <a:pPr indent="0" marL="0">
                        <a:lnSpc>
                          <a:spcPts val="2240"/>
                        </a:lnSpc>
                        <a:buNone/>
                      </a:pPr>
                      <a:r>
                        <a:rPr lang="en-US" sz="1600" dirty="0">
                          <a:solidFill>
                            <a:srgbClr val="857F75"/>
                          </a:solidFill>
                          <a:latin typeface="Space Grotesk" pitchFamily="34" charset="0"/>
                          <a:ea typeface="Space Grotesk" pitchFamily="34" charset="-122"/>
                          <a:cs typeface="Space Grotesk" pitchFamily="34" charset="-120"/>
                        </a:rPr>
                        <a:t>not quantified</a:t>
                      </a:r>
                      <a:endParaRPr lang="en-US" sz="1600" dirty="0">
                        <a:latin typeface="Space Grotesk" charset="0"/>
                        <a:ea typeface="Space Grotesk" charset="0"/>
                        <a:cs typeface="Space Grotesk" charset="0"/>
                      </a:endParaRPr>
                    </a:p>
                  </a:txBody>
                  <a:tcPr marL="0" marR="0" marT="107950" marB="107950" anchor="t">
                    <a:lnL w="12700" cap="flat" cmpd="sng" algn="ctr">
                      <a:solidFill>
                        <a:srgbClr val="403F3F"/>
                      </a:solidFill>
                      <a:prstDash val="solid"/>
                      <a:round/>
                      <a:headEnd type="none" w="med" len="med"/>
                      <a:tailEnd type="none" w="med" len="med"/>
                    </a:lnL>
                    <a:lnR w="12700" cap="flat" cmpd="sng" algn="ctr">
                      <a:solidFill>
                        <a:srgbClr val="403F3F"/>
                      </a:solidFill>
                      <a:prstDash val="solid"/>
                      <a:round/>
                      <a:headEnd type="none" w="med" len="med"/>
                      <a:tailEnd type="none" w="med" len="med"/>
                    </a:lnR>
                    <a:lnT w="12700" cap="flat" cmpd="sng" algn="ctr">
                      <a:solidFill>
                        <a:srgbClr val="403F3F"/>
                      </a:solidFill>
                      <a:prstDash val="solid"/>
                      <a:round/>
                      <a:headEnd type="none" w="med" len="med"/>
                      <a:tailEnd type="none" w="med" len="med"/>
                    </a:lnT>
                    <a:lnB w="12700" cap="flat" cmpd="sng" algn="ctr">
                      <a:solidFill>
                        <a:srgbClr val="403F3F"/>
                      </a:solidFill>
                      <a:prstDash val="solid"/>
                      <a:round/>
                      <a:headEnd type="none" w="med" len="med"/>
                      <a:tailEnd type="none" w="med" len="med"/>
                    </a:lnB>
                  </a:tcPr>
                </a:tc>
                <a:tc>
                  <a:txBody>
                    <a:bodyPr/>
                    <a:lstStyle/>
                    <a:p>
                      <a:pPr indent="0" marL="0">
                        <a:lnSpc>
                          <a:spcPts val="2240"/>
                        </a:lnSpc>
                        <a:buNone/>
                      </a:pPr>
                      <a:r>
                        <a:rPr lang="en-US" sz="1600" dirty="0">
                          <a:solidFill>
                            <a:srgbClr val="E3A23C"/>
                          </a:solidFill>
                          <a:latin typeface="Space Grotesk" pitchFamily="34" charset="0"/>
                          <a:ea typeface="Space Grotesk" pitchFamily="34" charset="-122"/>
                          <a:cs typeface="Space Grotesk" pitchFamily="34" charset="-120"/>
                        </a:rPr>
                        <a:t>measured</a:t>
                      </a:r>
                      <a:endParaRPr lang="en-US" sz="1600" dirty="0">
                        <a:latin typeface="Space Grotesk" charset="0"/>
                        <a:ea typeface="Space Grotesk" charset="0"/>
                        <a:cs typeface="Space Grotesk" charset="0"/>
                      </a:endParaRPr>
                    </a:p>
                  </a:txBody>
                  <a:tcPr marL="0" marR="0" marT="107950" marB="107950" anchor="t">
                    <a:lnL w="12700" cap="flat" cmpd="sng" algn="ctr">
                      <a:solidFill>
                        <a:srgbClr val="403F3F"/>
                      </a:solidFill>
                      <a:prstDash val="solid"/>
                      <a:round/>
                      <a:headEnd type="none" w="med" len="med"/>
                      <a:tailEnd type="none" w="med" len="med"/>
                    </a:lnL>
                    <a:lnR w="12700" cap="flat" cmpd="sng" algn="ctr">
                      <a:solidFill>
                        <a:srgbClr val="403F3F"/>
                      </a:solidFill>
                      <a:prstDash val="solid"/>
                      <a:round/>
                      <a:headEnd type="none" w="med" len="med"/>
                      <a:tailEnd type="none" w="med" len="med"/>
                    </a:lnR>
                    <a:lnT w="12700" cap="flat" cmpd="sng" algn="ctr">
                      <a:solidFill>
                        <a:srgbClr val="403F3F"/>
                      </a:solidFill>
                      <a:prstDash val="solid"/>
                      <a:round/>
                      <a:headEnd type="none" w="med" len="med"/>
                      <a:tailEnd type="none" w="med" len="med"/>
                    </a:lnT>
                    <a:lnB w="12700" cap="flat" cmpd="sng" algn="ctr">
                      <a:solidFill>
                        <a:srgbClr val="403F3F"/>
                      </a:solidFill>
                      <a:prstDash val="solid"/>
                      <a:round/>
                      <a:headEnd type="none" w="med" len="med"/>
                      <a:tailEnd type="none" w="med" len="med"/>
                    </a:lnB>
                  </a:tcPr>
                </a:tc>
              </a:tr>
              <a:tr h="794333">
                <a:tc>
                  <a:txBody>
                    <a:bodyPr/>
                    <a:lstStyle/>
                    <a:p>
                      <a:pPr indent="0" marL="0">
                        <a:lnSpc>
                          <a:spcPts val="2240"/>
                        </a:lnSpc>
                        <a:buNone/>
                      </a:pPr>
                      <a:r>
                        <a:rPr lang="en-US" sz="1600" dirty="0">
                          <a:solidFill>
                            <a:srgbClr val="938D83"/>
                          </a:solidFill>
                          <a:latin typeface="Space Grotesk" pitchFamily="34" charset="0"/>
                          <a:ea typeface="Space Grotesk" pitchFamily="34" charset="-122"/>
                          <a:cs typeface="Space Grotesk" pitchFamily="34" charset="-120"/>
                        </a:rPr>
                        <a:t>optimality baseline</a:t>
                      </a:r>
                      <a:endParaRPr lang="en-US" sz="1600" dirty="0">
                        <a:latin typeface="Space Grotesk" charset="0"/>
                        <a:ea typeface="Space Grotesk" charset="0"/>
                        <a:cs typeface="Space Grotesk" charset="0"/>
                      </a:endParaRPr>
                    </a:p>
                  </a:txBody>
                  <a:tcPr marL="0" marR="0" marT="107950" marB="107950" anchor="t">
                    <a:lnL w="12700" cap="flat" cmpd="sng" algn="ctr">
                      <a:solidFill>
                        <a:srgbClr val="403F3F"/>
                      </a:solidFill>
                      <a:prstDash val="solid"/>
                      <a:round/>
                      <a:headEnd type="none" w="med" len="med"/>
                      <a:tailEnd type="none" w="med" len="med"/>
                    </a:lnL>
                    <a:lnR w="12700" cap="flat" cmpd="sng" algn="ctr">
                      <a:solidFill>
                        <a:srgbClr val="403F3F"/>
                      </a:solidFill>
                      <a:prstDash val="solid"/>
                      <a:round/>
                      <a:headEnd type="none" w="med" len="med"/>
                      <a:tailEnd type="none" w="med" len="med"/>
                    </a:lnR>
                    <a:lnT w="12700" cap="flat" cmpd="sng" algn="ctr">
                      <a:solidFill>
                        <a:srgbClr val="403F3F"/>
                      </a:solidFill>
                      <a:prstDash val="solid"/>
                      <a:round/>
                      <a:headEnd type="none" w="med" len="med"/>
                      <a:tailEnd type="none" w="med" len="med"/>
                    </a:lnT>
                    <a:lnB w="12700" cap="flat" cmpd="sng" algn="ctr">
                      <a:solidFill>
                        <a:srgbClr val="403F3F"/>
                      </a:solidFill>
                      <a:prstDash val="solid"/>
                      <a:round/>
                      <a:headEnd type="none" w="med" len="med"/>
                      <a:tailEnd type="none" w="med" len="med"/>
                    </a:lnB>
                  </a:tcPr>
                </a:tc>
                <a:tc>
                  <a:txBody>
                    <a:bodyPr/>
                    <a:lstStyle/>
                    <a:p>
                      <a:pPr indent="0" marL="0">
                        <a:lnSpc>
                          <a:spcPts val="2240"/>
                        </a:lnSpc>
                        <a:buNone/>
                      </a:pPr>
                      <a:r>
                        <a:rPr lang="en-US" sz="1600" dirty="0">
                          <a:solidFill>
                            <a:srgbClr val="857F75"/>
                          </a:solidFill>
                          <a:latin typeface="Space Grotesk" pitchFamily="34" charset="0"/>
                          <a:ea typeface="Space Grotesk" pitchFamily="34" charset="-122"/>
                          <a:cs typeface="Space Grotesk" pitchFamily="34" charset="-120"/>
                        </a:rPr>
                        <a:t>none, annealer only</a:t>
                      </a:r>
                      <a:endParaRPr lang="en-US" sz="1600" dirty="0">
                        <a:latin typeface="Space Grotesk" charset="0"/>
                        <a:ea typeface="Space Grotesk" charset="0"/>
                        <a:cs typeface="Space Grotesk" charset="0"/>
                      </a:endParaRPr>
                    </a:p>
                  </a:txBody>
                  <a:tcPr marL="0" marR="0" marT="107950" marB="107950" anchor="t">
                    <a:lnL w="12700" cap="flat" cmpd="sng" algn="ctr">
                      <a:solidFill>
                        <a:srgbClr val="403F3F"/>
                      </a:solidFill>
                      <a:prstDash val="solid"/>
                      <a:round/>
                      <a:headEnd type="none" w="med" len="med"/>
                      <a:tailEnd type="none" w="med" len="med"/>
                    </a:lnL>
                    <a:lnR w="12700" cap="flat" cmpd="sng" algn="ctr">
                      <a:solidFill>
                        <a:srgbClr val="403F3F"/>
                      </a:solidFill>
                      <a:prstDash val="solid"/>
                      <a:round/>
                      <a:headEnd type="none" w="med" len="med"/>
                      <a:tailEnd type="none" w="med" len="med"/>
                    </a:lnR>
                    <a:lnT w="12700" cap="flat" cmpd="sng" algn="ctr">
                      <a:solidFill>
                        <a:srgbClr val="403F3F"/>
                      </a:solidFill>
                      <a:prstDash val="solid"/>
                      <a:round/>
                      <a:headEnd type="none" w="med" len="med"/>
                      <a:tailEnd type="none" w="med" len="med"/>
                    </a:lnT>
                    <a:lnB w="12700" cap="flat" cmpd="sng" algn="ctr">
                      <a:solidFill>
                        <a:srgbClr val="403F3F"/>
                      </a:solidFill>
                      <a:prstDash val="solid"/>
                      <a:round/>
                      <a:headEnd type="none" w="med" len="med"/>
                      <a:tailEnd type="none" w="med" len="med"/>
                    </a:lnB>
                  </a:tcPr>
                </a:tc>
                <a:tc>
                  <a:txBody>
                    <a:bodyPr/>
                    <a:lstStyle/>
                    <a:p>
                      <a:pPr indent="0" marL="0">
                        <a:lnSpc>
                          <a:spcPts val="2240"/>
                        </a:lnSpc>
                        <a:buNone/>
                      </a:pPr>
                      <a:r>
                        <a:rPr lang="en-US" sz="1600" dirty="0">
                          <a:solidFill>
                            <a:srgbClr val="ECE6DB"/>
                          </a:solidFill>
                          <a:latin typeface="Space Grotesk" pitchFamily="34" charset="0"/>
                          <a:ea typeface="Space Grotesk" pitchFamily="34" charset="-122"/>
                          <a:cs typeface="Space Grotesk" pitchFamily="34" charset="-120"/>
                        </a:rPr>
                        <a:t>brute-force exact optimum</a:t>
                      </a:r>
                      <a:endParaRPr lang="en-US" sz="1600" dirty="0">
                        <a:latin typeface="Space Grotesk" charset="0"/>
                        <a:ea typeface="Space Grotesk" charset="0"/>
                        <a:cs typeface="Space Grotesk" charset="0"/>
                      </a:endParaRPr>
                    </a:p>
                  </a:txBody>
                  <a:tcPr marL="0" marR="0" marT="107950" marB="107950" anchor="t">
                    <a:lnL w="12700" cap="flat" cmpd="sng" algn="ctr">
                      <a:solidFill>
                        <a:srgbClr val="403F3F"/>
                      </a:solidFill>
                      <a:prstDash val="solid"/>
                      <a:round/>
                      <a:headEnd type="none" w="med" len="med"/>
                      <a:tailEnd type="none" w="med" len="med"/>
                    </a:lnL>
                    <a:lnR w="12700" cap="flat" cmpd="sng" algn="ctr">
                      <a:solidFill>
                        <a:srgbClr val="403F3F"/>
                      </a:solidFill>
                      <a:prstDash val="solid"/>
                      <a:round/>
                      <a:headEnd type="none" w="med" len="med"/>
                      <a:tailEnd type="none" w="med" len="med"/>
                    </a:lnR>
                    <a:lnT w="12700" cap="flat" cmpd="sng" algn="ctr">
                      <a:solidFill>
                        <a:srgbClr val="403F3F"/>
                      </a:solidFill>
                      <a:prstDash val="solid"/>
                      <a:round/>
                      <a:headEnd type="none" w="med" len="med"/>
                      <a:tailEnd type="none" w="med" len="med"/>
                    </a:lnT>
                    <a:lnB w="12700" cap="flat" cmpd="sng" algn="ctr">
                      <a:solidFill>
                        <a:srgbClr val="403F3F"/>
                      </a:solidFill>
                      <a:prstDash val="solid"/>
                      <a:round/>
                      <a:headEnd type="none" w="med" len="med"/>
                      <a:tailEnd type="none" w="med" len="med"/>
                    </a:lnB>
                  </a:tcPr>
                </a:tc>
              </a:tr>
              <a:tr h="509931">
                <a:tc>
                  <a:txBody>
                    <a:bodyPr/>
                    <a:lstStyle/>
                    <a:p>
                      <a:pPr indent="0" marL="0">
                        <a:lnSpc>
                          <a:spcPts val="2240"/>
                        </a:lnSpc>
                        <a:buNone/>
                      </a:pPr>
                      <a:r>
                        <a:rPr lang="en-US" sz="1600" dirty="0">
                          <a:solidFill>
                            <a:srgbClr val="938D83"/>
                          </a:solidFill>
                          <a:latin typeface="Space Grotesk" pitchFamily="34" charset="0"/>
                          <a:ea typeface="Space Grotesk" pitchFamily="34" charset="-122"/>
                          <a:cs typeface="Space Grotesk" pitchFamily="34" charset="-120"/>
                        </a:rPr>
                        <a:t>hardware paradigm</a:t>
                      </a:r>
                      <a:endParaRPr lang="en-US" sz="1600" dirty="0">
                        <a:latin typeface="Space Grotesk" charset="0"/>
                        <a:ea typeface="Space Grotesk" charset="0"/>
                        <a:cs typeface="Space Grotesk" charset="0"/>
                      </a:endParaRPr>
                    </a:p>
                  </a:txBody>
                  <a:tcPr marL="0" marR="0" marT="107950" marB="107950" anchor="t">
                    <a:lnL w="12700" cap="flat" cmpd="sng" algn="ctr">
                      <a:solidFill>
                        <a:srgbClr val="403F3F"/>
                      </a:solidFill>
                      <a:prstDash val="solid"/>
                      <a:round/>
                      <a:headEnd type="none" w="med" len="med"/>
                      <a:tailEnd type="none" w="med" len="med"/>
                    </a:lnL>
                    <a:lnR w="12700" cap="flat" cmpd="sng" algn="ctr">
                      <a:solidFill>
                        <a:srgbClr val="403F3F"/>
                      </a:solidFill>
                      <a:prstDash val="solid"/>
                      <a:round/>
                      <a:headEnd type="none" w="med" len="med"/>
                      <a:tailEnd type="none" w="med" len="med"/>
                    </a:lnR>
                    <a:lnT w="12700" cap="flat" cmpd="sng" algn="ctr">
                      <a:solidFill>
                        <a:srgbClr val="403F3F"/>
                      </a:solidFill>
                      <a:prstDash val="solid"/>
                      <a:round/>
                      <a:headEnd type="none" w="med" len="med"/>
                      <a:tailEnd type="none" w="med" len="med"/>
                    </a:lnT>
                    <a:lnB w="12700" cap="flat" cmpd="sng" algn="ctr">
                      <a:solidFill>
                        <a:srgbClr val="403F3F"/>
                      </a:solidFill>
                      <a:prstDash val="solid"/>
                      <a:round/>
                      <a:headEnd type="none" w="med" len="med"/>
                      <a:tailEnd type="none" w="med" len="med"/>
                    </a:lnB>
                  </a:tcPr>
                </a:tc>
                <a:tc>
                  <a:txBody>
                    <a:bodyPr/>
                    <a:lstStyle/>
                    <a:p>
                      <a:pPr indent="0" marL="0">
                        <a:lnSpc>
                          <a:spcPts val="2240"/>
                        </a:lnSpc>
                        <a:buNone/>
                      </a:pPr>
                      <a:r>
                        <a:rPr lang="en-US" sz="1600" dirty="0">
                          <a:solidFill>
                            <a:srgbClr val="857F75"/>
                          </a:solidFill>
                          <a:latin typeface="Space Grotesk" pitchFamily="34" charset="0"/>
                          <a:ea typeface="Space Grotesk" pitchFamily="34" charset="-122"/>
                          <a:cs typeface="Space Grotesk" pitchFamily="34" charset="-120"/>
                        </a:rPr>
                        <a:t>analog annealing</a:t>
                      </a:r>
                      <a:endParaRPr lang="en-US" sz="1600" dirty="0">
                        <a:latin typeface="Space Grotesk" charset="0"/>
                        <a:ea typeface="Space Grotesk" charset="0"/>
                        <a:cs typeface="Space Grotesk" charset="0"/>
                      </a:endParaRPr>
                    </a:p>
                  </a:txBody>
                  <a:tcPr marL="0" marR="0" marT="107950" marB="107950" anchor="t">
                    <a:lnL w="12700" cap="flat" cmpd="sng" algn="ctr">
                      <a:solidFill>
                        <a:srgbClr val="403F3F"/>
                      </a:solidFill>
                      <a:prstDash val="solid"/>
                      <a:round/>
                      <a:headEnd type="none" w="med" len="med"/>
                      <a:tailEnd type="none" w="med" len="med"/>
                    </a:lnL>
                    <a:lnR w="12700" cap="flat" cmpd="sng" algn="ctr">
                      <a:solidFill>
                        <a:srgbClr val="403F3F"/>
                      </a:solidFill>
                      <a:prstDash val="solid"/>
                      <a:round/>
                      <a:headEnd type="none" w="med" len="med"/>
                      <a:tailEnd type="none" w="med" len="med"/>
                    </a:lnR>
                    <a:lnT w="12700" cap="flat" cmpd="sng" algn="ctr">
                      <a:solidFill>
                        <a:srgbClr val="403F3F"/>
                      </a:solidFill>
                      <a:prstDash val="solid"/>
                      <a:round/>
                      <a:headEnd type="none" w="med" len="med"/>
                      <a:tailEnd type="none" w="med" len="med"/>
                    </a:lnT>
                    <a:lnB w="12700" cap="flat" cmpd="sng" algn="ctr">
                      <a:solidFill>
                        <a:srgbClr val="403F3F"/>
                      </a:solidFill>
                      <a:prstDash val="solid"/>
                      <a:round/>
                      <a:headEnd type="none" w="med" len="med"/>
                      <a:tailEnd type="none" w="med" len="med"/>
                    </a:lnB>
                  </a:tcPr>
                </a:tc>
                <a:tc>
                  <a:txBody>
                    <a:bodyPr/>
                    <a:lstStyle/>
                    <a:p>
                      <a:pPr indent="0" marL="0">
                        <a:lnSpc>
                          <a:spcPts val="2240"/>
                        </a:lnSpc>
                        <a:buNone/>
                      </a:pPr>
                      <a:r>
                        <a:rPr lang="en-US" sz="1600" dirty="0">
                          <a:solidFill>
                            <a:srgbClr val="ECE6DB"/>
                          </a:solidFill>
                          <a:latin typeface="Space Grotesk" pitchFamily="34" charset="0"/>
                          <a:ea typeface="Space Grotesk" pitchFamily="34" charset="-122"/>
                          <a:cs typeface="Space Grotesk" pitchFamily="34" charset="-120"/>
                        </a:rPr>
                        <a:t>gate-based QAOA</a:t>
                      </a:r>
                      <a:endParaRPr lang="en-US" sz="1600" dirty="0">
                        <a:latin typeface="Space Grotesk" charset="0"/>
                        <a:ea typeface="Space Grotesk" charset="0"/>
                        <a:cs typeface="Space Grotesk" charset="0"/>
                      </a:endParaRPr>
                    </a:p>
                  </a:txBody>
                  <a:tcPr marL="0" marR="0" marT="107950" marB="107950" anchor="t">
                    <a:lnL w="12700" cap="flat" cmpd="sng" algn="ctr">
                      <a:solidFill>
                        <a:srgbClr val="403F3F"/>
                      </a:solidFill>
                      <a:prstDash val="solid"/>
                      <a:round/>
                      <a:headEnd type="none" w="med" len="med"/>
                      <a:tailEnd type="none" w="med" len="med"/>
                    </a:lnL>
                    <a:lnR w="12700" cap="flat" cmpd="sng" algn="ctr">
                      <a:solidFill>
                        <a:srgbClr val="403F3F"/>
                      </a:solidFill>
                      <a:prstDash val="solid"/>
                      <a:round/>
                      <a:headEnd type="none" w="med" len="med"/>
                      <a:tailEnd type="none" w="med" len="med"/>
                    </a:lnR>
                    <a:lnT w="12700" cap="flat" cmpd="sng" algn="ctr">
                      <a:solidFill>
                        <a:srgbClr val="403F3F"/>
                      </a:solidFill>
                      <a:prstDash val="solid"/>
                      <a:round/>
                      <a:headEnd type="none" w="med" len="med"/>
                      <a:tailEnd type="none" w="med" len="med"/>
                    </a:lnT>
                    <a:lnB w="12700" cap="flat" cmpd="sng" algn="ctr">
                      <a:solidFill>
                        <a:srgbClr val="403F3F"/>
                      </a:solidFill>
                      <a:prstDash val="solid"/>
                      <a:round/>
                      <a:headEnd type="none" w="med" len="med"/>
                      <a:tailEnd type="none" w="med" len="med"/>
                    </a:lnB>
                  </a:tcPr>
                </a:tc>
              </a:tr>
            </a:tbl>
          </a:graphicData>
        </a:graphic>
      </p:graphicFrame>
      <p:sp>
        <p:nvSpPr>
          <p:cNvPr id="6" name="Text 3"/>
          <p:cNvSpPr/>
          <p:nvPr/>
        </p:nvSpPr>
        <p:spPr>
          <a:xfrm>
            <a:off x="9804396" y="6238277"/>
            <a:ext cx="1574781" cy="23870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57F75"/>
                </a:solidFill>
                <a:latin typeface="JetBrains Mono" pitchFamily="49" charset="0"/>
                <a:ea typeface="JetBrains Mono" pitchFamily="49" charset="-122"/>
                <a:cs typeface="JetBrains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214"/>
        </a:solidFill>
      </p:bgPr>
    </p:bg>
    <p:spTree>
      <p:nvGrpSpPr>
        <p:cNvPr id="1" name=""/>
        <p:cNvGrpSpPr/>
        <p:nvPr/>
      </p:nvGrpSpPr>
      <p:grpSpPr>
        <a:xfrm>
          <a:off x="0" y="0"/>
          <a:ext cx="0" cy="0"/>
          <a:chOff x="0" y="0"/>
          <a:chExt cx="0" cy="0"/>
        </a:xfrm>
      </p:grpSpPr>
      <p:sp>
        <p:nvSpPr>
          <p:cNvPr id="2" name="Text 0"/>
          <p:cNvSpPr/>
          <p:nvPr/>
        </p:nvSpPr>
        <p:spPr>
          <a:xfrm>
            <a:off x="812750" y="812750"/>
            <a:ext cx="10883421" cy="238702"/>
          </a:xfrm>
          <a:prstGeom prst="rect">
            <a:avLst/>
          </a:prstGeom>
          <a:noFill/>
          <a:ln/>
        </p:spPr>
        <p:txBody>
          <a:bodyPr wrap="square" lIns="0" tIns="0" rIns="0" bIns="0" rtlCol="0" anchor="t">
            <a:normAutofit/>
          </a:bodyPr>
          <a:lstStyle/>
          <a:p>
            <a:pPr algn="l" indent="0" marL="0">
              <a:lnSpc>
                <a:spcPts val="1680"/>
              </a:lnSpc>
              <a:buNone/>
            </a:pPr>
            <a:r>
              <a:rPr lang="en-US" sz="1200" spc="120" kern="0" dirty="0">
                <a:solidFill>
                  <a:srgbClr val="E3A23C"/>
                </a:solidFill>
                <a:latin typeface="JetBrains Mono" pitchFamily="49" charset="0"/>
                <a:ea typeface="JetBrains Mono" pitchFamily="49" charset="-122"/>
                <a:cs typeface="JetBrains Mono" pitchFamily="49" charset="-120"/>
              </a:rPr>
              <a:t>HOW IT RUNS</a:t>
            </a:r>
            <a:endParaRPr lang="en-US" sz="1200" dirty="0"/>
          </a:p>
        </p:txBody>
      </p:sp>
      <p:sp>
        <p:nvSpPr>
          <p:cNvPr id="3" name="Text 1"/>
          <p:cNvSpPr/>
          <p:nvPr>
            <p:ph type="title"/>
          </p:nvPr>
        </p:nvSpPr>
        <p:spPr>
          <a:xfrm>
            <a:off x="812750" y="1216484"/>
            <a:ext cx="10883421" cy="412151"/>
          </a:xfrm>
          <a:prstGeom prst="rect">
            <a:avLst/>
          </a:prstGeom>
          <a:noFill/>
          <a:ln/>
        </p:spPr>
        <p:txBody>
          <a:bodyPr wrap="square" lIns="0" tIns="0" rIns="0" bIns="0" rtlCol="0" anchor="t">
            <a:normAutofit/>
          </a:bodyPr>
          <a:lstStyle/>
          <a:p>
            <a:pPr algn="l" indent="0" marL="0">
              <a:lnSpc>
                <a:spcPts val="3045"/>
              </a:lnSpc>
              <a:buNone/>
            </a:pPr>
            <a:r>
              <a:rPr lang="en-US" sz="2900" b="1" i="0" spc="-100" kern="0" dirty="0">
                <a:solidFill>
                  <a:srgbClr val="ECE6DB"/>
                </a:solidFill>
                <a:latin typeface="Space Grotesk" pitchFamily="34" charset="0"/>
                <a:ea typeface="Space Grotesk" pitchFamily="34" charset="-122"/>
                <a:cs typeface="Space Grotesk" pitchFamily="34" charset="-120"/>
              </a:rPr>
              <a:t>One path, shared by the API and the experiment scripts</a:t>
            </a:r>
            <a:endParaRPr lang="en-US" sz="2900" dirty="0"/>
          </a:p>
        </p:txBody>
      </p:sp>
      <p:sp>
        <p:nvSpPr>
          <p:cNvPr id="4" name="Shape 2"/>
          <p:cNvSpPr/>
          <p:nvPr/>
        </p:nvSpPr>
        <p:spPr>
          <a:xfrm>
            <a:off x="812750" y="1796842"/>
            <a:ext cx="10566428" cy="0"/>
          </a:xfrm>
          <a:prstGeom prst="line">
            <a:avLst/>
          </a:prstGeom>
          <a:noFill/>
          <a:ln w="6350">
            <a:solidFill>
              <a:srgbClr val="272621"/>
            </a:solidFill>
            <a:prstDash val="solid"/>
          </a:ln>
        </p:spPr>
      </p:sp>
      <p:sp>
        <p:nvSpPr>
          <p:cNvPr id="5" name="Text 3"/>
          <p:cNvSpPr/>
          <p:nvPr/>
        </p:nvSpPr>
        <p:spPr>
          <a:xfrm>
            <a:off x="812750" y="1963567"/>
            <a:ext cx="495291" cy="327615"/>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3A23C"/>
                </a:solidFill>
                <a:latin typeface="JetBrains Mono" pitchFamily="49" charset="0"/>
                <a:ea typeface="JetBrains Mono" pitchFamily="49" charset="-122"/>
                <a:cs typeface="JetBrains Mono" pitchFamily="49" charset="-120"/>
              </a:rPr>
              <a:t>01</a:t>
            </a:r>
            <a:endParaRPr lang="en-US" sz="1700" dirty="0"/>
          </a:p>
        </p:txBody>
      </p:sp>
      <p:sp>
        <p:nvSpPr>
          <p:cNvPr id="6" name="Text 4"/>
          <p:cNvSpPr/>
          <p:nvPr/>
        </p:nvSpPr>
        <p:spPr>
          <a:xfrm>
            <a:off x="1549267" y="2007043"/>
            <a:ext cx="2746957" cy="261571"/>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ECE6DB"/>
                </a:solidFill>
                <a:latin typeface="Space Grotesk" pitchFamily="34" charset="0"/>
                <a:ea typeface="Space Grotesk" pitchFamily="34" charset="-122"/>
                <a:cs typeface="Space Grotesk" pitchFamily="34" charset="-120"/>
              </a:rPr>
              <a:t>Generate candidates</a:t>
            </a:r>
            <a:endParaRPr lang="en-US" sz="1550" dirty="0"/>
          </a:p>
        </p:txBody>
      </p:sp>
      <p:sp>
        <p:nvSpPr>
          <p:cNvPr id="7" name="Text 5"/>
          <p:cNvSpPr/>
          <p:nvPr/>
        </p:nvSpPr>
        <p:spPr>
          <a:xfrm>
            <a:off x="4508241" y="2026366"/>
            <a:ext cx="7077065" cy="469816"/>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938D83"/>
                </a:solidFill>
                <a:latin typeface="Space Grotesk" pitchFamily="34" charset="0"/>
                <a:ea typeface="Space Grotesk" pitchFamily="34" charset="-122"/>
                <a:cs typeface="Space Grotesk" pitchFamily="34" charset="-120"/>
              </a:rPr>
              <a:t>Structural and physicochemical filters, then an ML pre-screen. Output: 14 binary variables and a conflict graph.</a:t>
            </a:r>
            <a:endParaRPr lang="en-US" sz="1250" dirty="0"/>
          </a:p>
        </p:txBody>
      </p:sp>
      <p:sp>
        <p:nvSpPr>
          <p:cNvPr id="8" name="Shape 6"/>
          <p:cNvSpPr/>
          <p:nvPr/>
        </p:nvSpPr>
        <p:spPr>
          <a:xfrm>
            <a:off x="812750" y="2639027"/>
            <a:ext cx="10566428" cy="0"/>
          </a:xfrm>
          <a:prstGeom prst="line">
            <a:avLst/>
          </a:prstGeom>
          <a:noFill/>
          <a:ln w="6350">
            <a:solidFill>
              <a:srgbClr val="272621"/>
            </a:solidFill>
            <a:prstDash val="solid"/>
          </a:ln>
        </p:spPr>
      </p:sp>
      <p:sp>
        <p:nvSpPr>
          <p:cNvPr id="9" name="Text 7"/>
          <p:cNvSpPr/>
          <p:nvPr/>
        </p:nvSpPr>
        <p:spPr>
          <a:xfrm>
            <a:off x="812750" y="2805754"/>
            <a:ext cx="495291" cy="327615"/>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3A23C"/>
                </a:solidFill>
                <a:latin typeface="JetBrains Mono" pitchFamily="49" charset="0"/>
                <a:ea typeface="JetBrains Mono" pitchFamily="49" charset="-122"/>
                <a:cs typeface="JetBrains Mono" pitchFamily="49" charset="-120"/>
              </a:rPr>
              <a:t>02</a:t>
            </a:r>
            <a:endParaRPr lang="en-US" sz="1700" dirty="0"/>
          </a:p>
        </p:txBody>
      </p:sp>
      <p:sp>
        <p:nvSpPr>
          <p:cNvPr id="10" name="Text 8"/>
          <p:cNvSpPr/>
          <p:nvPr/>
        </p:nvSpPr>
        <p:spPr>
          <a:xfrm>
            <a:off x="1549267" y="2849231"/>
            <a:ext cx="2746957" cy="261571"/>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ECE6DB"/>
                </a:solidFill>
                <a:latin typeface="Space Grotesk" pitchFamily="34" charset="0"/>
                <a:ea typeface="Space Grotesk" pitchFamily="34" charset="-122"/>
                <a:cs typeface="Space Grotesk" pitchFamily="34" charset="-120"/>
              </a:rPr>
              <a:t>Compute the landscape</a:t>
            </a:r>
            <a:endParaRPr lang="en-US" sz="1550" dirty="0"/>
          </a:p>
        </p:txBody>
      </p:sp>
      <p:sp>
        <p:nvSpPr>
          <p:cNvPr id="11" name="Text 9"/>
          <p:cNvSpPr/>
          <p:nvPr/>
        </p:nvSpPr>
        <p:spPr>
          <a:xfrm>
            <a:off x="4508241" y="2868550"/>
            <a:ext cx="7077065" cy="247608"/>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938D83"/>
                </a:solidFill>
                <a:latin typeface="Space Grotesk" pitchFamily="34" charset="0"/>
                <a:ea typeface="Space Grotesk" pitchFamily="34" charset="-122"/>
                <a:cs typeface="Space Grotesk" pitchFamily="34" charset="-120"/>
              </a:rPr>
              <a:t>Δ_i and Δ_ij by real model evaluation on each mutant. Nothing is fitted to samples.</a:t>
            </a:r>
            <a:endParaRPr lang="en-US" sz="1250" dirty="0"/>
          </a:p>
        </p:txBody>
      </p:sp>
      <p:sp>
        <p:nvSpPr>
          <p:cNvPr id="12" name="Shape 10"/>
          <p:cNvSpPr/>
          <p:nvPr/>
        </p:nvSpPr>
        <p:spPr>
          <a:xfrm>
            <a:off x="812750" y="3276216"/>
            <a:ext cx="10566428" cy="0"/>
          </a:xfrm>
          <a:prstGeom prst="line">
            <a:avLst/>
          </a:prstGeom>
          <a:noFill/>
          <a:ln w="6350">
            <a:solidFill>
              <a:srgbClr val="272621"/>
            </a:solidFill>
            <a:prstDash val="solid"/>
          </a:ln>
        </p:spPr>
      </p:sp>
      <p:sp>
        <p:nvSpPr>
          <p:cNvPr id="13" name="Text 11"/>
          <p:cNvSpPr/>
          <p:nvPr/>
        </p:nvSpPr>
        <p:spPr>
          <a:xfrm>
            <a:off x="812750" y="3442940"/>
            <a:ext cx="495291" cy="327615"/>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3A23C"/>
                </a:solidFill>
                <a:latin typeface="JetBrains Mono" pitchFamily="49" charset="0"/>
                <a:ea typeface="JetBrains Mono" pitchFamily="49" charset="-122"/>
                <a:cs typeface="JetBrains Mono" pitchFamily="49" charset="-120"/>
              </a:rPr>
              <a:t>03</a:t>
            </a:r>
            <a:endParaRPr lang="en-US" sz="1700" dirty="0"/>
          </a:p>
        </p:txBody>
      </p:sp>
      <p:sp>
        <p:nvSpPr>
          <p:cNvPr id="14" name="Text 12"/>
          <p:cNvSpPr/>
          <p:nvPr/>
        </p:nvSpPr>
        <p:spPr>
          <a:xfrm>
            <a:off x="1549267" y="3486417"/>
            <a:ext cx="2746957" cy="261571"/>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ECE6DB"/>
                </a:solidFill>
                <a:latin typeface="Space Grotesk" pitchFamily="34" charset="0"/>
                <a:ea typeface="Space Grotesk" pitchFamily="34" charset="-122"/>
                <a:cs typeface="Space Grotesk" pitchFamily="34" charset="-120"/>
              </a:rPr>
              <a:t>Build and verify</a:t>
            </a:r>
            <a:endParaRPr lang="en-US" sz="1550" dirty="0"/>
          </a:p>
        </p:txBody>
      </p:sp>
      <p:sp>
        <p:nvSpPr>
          <p:cNvPr id="15" name="Text 13"/>
          <p:cNvSpPr/>
          <p:nvPr/>
        </p:nvSpPr>
        <p:spPr>
          <a:xfrm>
            <a:off x="4508241" y="3505740"/>
            <a:ext cx="7077065" cy="469816"/>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938D83"/>
                </a:solidFill>
                <a:latin typeface="Space Grotesk" pitchFamily="34" charset="0"/>
                <a:ea typeface="Space Grotesk" pitchFamily="34" charset="-122"/>
                <a:cs typeface="Space Grotesk" pitchFamily="34" charset="-120"/>
              </a:rPr>
              <a:t>Penalties derived from the exact objective span, then checked by enumeration over every assignment.</a:t>
            </a:r>
            <a:endParaRPr lang="en-US" sz="1250" dirty="0"/>
          </a:p>
        </p:txBody>
      </p:sp>
      <p:sp>
        <p:nvSpPr>
          <p:cNvPr id="16" name="Shape 14"/>
          <p:cNvSpPr/>
          <p:nvPr/>
        </p:nvSpPr>
        <p:spPr>
          <a:xfrm>
            <a:off x="812750" y="4118400"/>
            <a:ext cx="10566428" cy="0"/>
          </a:xfrm>
          <a:prstGeom prst="line">
            <a:avLst/>
          </a:prstGeom>
          <a:noFill/>
          <a:ln w="6350">
            <a:solidFill>
              <a:srgbClr val="272621"/>
            </a:solidFill>
            <a:prstDash val="solid"/>
          </a:ln>
        </p:spPr>
      </p:sp>
      <p:sp>
        <p:nvSpPr>
          <p:cNvPr id="17" name="Text 15"/>
          <p:cNvSpPr/>
          <p:nvPr/>
        </p:nvSpPr>
        <p:spPr>
          <a:xfrm>
            <a:off x="812750" y="4285128"/>
            <a:ext cx="495291" cy="327615"/>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3A23C"/>
                </a:solidFill>
                <a:latin typeface="JetBrains Mono" pitchFamily="49" charset="0"/>
                <a:ea typeface="JetBrains Mono" pitchFamily="49" charset="-122"/>
                <a:cs typeface="JetBrains Mono" pitchFamily="49" charset="-120"/>
              </a:rPr>
              <a:t>04</a:t>
            </a:r>
            <a:endParaRPr lang="en-US" sz="1700" dirty="0"/>
          </a:p>
        </p:txBody>
      </p:sp>
      <p:sp>
        <p:nvSpPr>
          <p:cNvPr id="18" name="Text 16"/>
          <p:cNvSpPr/>
          <p:nvPr/>
        </p:nvSpPr>
        <p:spPr>
          <a:xfrm>
            <a:off x="1549267" y="4328604"/>
            <a:ext cx="2746957" cy="261571"/>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ECE6DB"/>
                </a:solidFill>
                <a:latin typeface="Space Grotesk" pitchFamily="34" charset="0"/>
                <a:ea typeface="Space Grotesk" pitchFamily="34" charset="-122"/>
                <a:cs typeface="Space Grotesk" pitchFamily="34" charset="-120"/>
              </a:rPr>
              <a:t>Solve</a:t>
            </a:r>
            <a:endParaRPr lang="en-US" sz="1550" dirty="0"/>
          </a:p>
        </p:txBody>
      </p:sp>
      <p:sp>
        <p:nvSpPr>
          <p:cNvPr id="19" name="Text 17"/>
          <p:cNvSpPr/>
          <p:nvPr/>
        </p:nvSpPr>
        <p:spPr>
          <a:xfrm>
            <a:off x="4508241" y="4347927"/>
            <a:ext cx="7077065" cy="469816"/>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938D83"/>
                </a:solidFill>
                <a:latin typeface="Space Grotesk" pitchFamily="34" charset="0"/>
                <a:ea typeface="Space Grotesk" pitchFamily="34" charset="-122"/>
                <a:cs typeface="Space Grotesk" pitchFamily="34" charset="-120"/>
              </a:rPr>
              <a:t>QAOA at p = 1, 2, 3 against exact enumeration, simulated annealing, greedy, local search, uniform random.</a:t>
            </a:r>
            <a:endParaRPr lang="en-US" sz="1250" dirty="0"/>
          </a:p>
        </p:txBody>
      </p:sp>
      <p:sp>
        <p:nvSpPr>
          <p:cNvPr id="20" name="Shape 18"/>
          <p:cNvSpPr/>
          <p:nvPr/>
        </p:nvSpPr>
        <p:spPr>
          <a:xfrm>
            <a:off x="812750" y="4960587"/>
            <a:ext cx="10566428" cy="0"/>
          </a:xfrm>
          <a:prstGeom prst="line">
            <a:avLst/>
          </a:prstGeom>
          <a:noFill/>
          <a:ln w="6350">
            <a:solidFill>
              <a:srgbClr val="272621"/>
            </a:solidFill>
            <a:prstDash val="solid"/>
          </a:ln>
        </p:spPr>
      </p:sp>
      <p:sp>
        <p:nvSpPr>
          <p:cNvPr id="21" name="Text 19"/>
          <p:cNvSpPr/>
          <p:nvPr/>
        </p:nvSpPr>
        <p:spPr>
          <a:xfrm>
            <a:off x="812750" y="5127315"/>
            <a:ext cx="495291" cy="327615"/>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3A23C"/>
                </a:solidFill>
                <a:latin typeface="JetBrains Mono" pitchFamily="49" charset="0"/>
                <a:ea typeface="JetBrains Mono" pitchFamily="49" charset="-122"/>
                <a:cs typeface="JetBrains Mono" pitchFamily="49" charset="-120"/>
              </a:rPr>
              <a:t>05</a:t>
            </a:r>
            <a:endParaRPr lang="en-US" sz="1700" dirty="0"/>
          </a:p>
        </p:txBody>
      </p:sp>
      <p:sp>
        <p:nvSpPr>
          <p:cNvPr id="22" name="Text 20"/>
          <p:cNvSpPr/>
          <p:nvPr/>
        </p:nvSpPr>
        <p:spPr>
          <a:xfrm>
            <a:off x="1549267" y="5170788"/>
            <a:ext cx="2746957" cy="261571"/>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ECE6DB"/>
                </a:solidFill>
                <a:latin typeface="Space Grotesk" pitchFamily="34" charset="0"/>
                <a:ea typeface="Space Grotesk" pitchFamily="34" charset="-122"/>
                <a:cs typeface="Space Grotesk" pitchFamily="34" charset="-120"/>
              </a:rPr>
              <a:t>Re-score and rank</a:t>
            </a:r>
            <a:endParaRPr lang="en-US" sz="1550" dirty="0"/>
          </a:p>
        </p:txBody>
      </p:sp>
      <p:sp>
        <p:nvSpPr>
          <p:cNvPr id="23" name="Text 21"/>
          <p:cNvSpPr/>
          <p:nvPr/>
        </p:nvSpPr>
        <p:spPr>
          <a:xfrm>
            <a:off x="4508241" y="5190111"/>
            <a:ext cx="7077065" cy="247608"/>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938D83"/>
                </a:solidFill>
                <a:latin typeface="Space Grotesk" pitchFamily="34" charset="0"/>
                <a:ea typeface="Space Grotesk" pitchFamily="34" charset="-122"/>
                <a:cs typeface="Space Grotesk" pitchFamily="34" charset="-120"/>
              </a:rPr>
              <a:t>The real models run again on every candidate. Ranking never uses QUBO energy.</a:t>
            </a:r>
            <a:endParaRPr lang="en-US" sz="1250" dirty="0"/>
          </a:p>
        </p:txBody>
      </p:sp>
      <p:sp>
        <p:nvSpPr>
          <p:cNvPr id="24" name="Text 22"/>
          <p:cNvSpPr/>
          <p:nvPr/>
        </p:nvSpPr>
        <p:spPr>
          <a:xfrm>
            <a:off x="9804396" y="6238280"/>
            <a:ext cx="1574781" cy="23870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57F75"/>
                </a:solidFill>
                <a:latin typeface="JetBrains Mono" pitchFamily="49" charset="0"/>
                <a:ea typeface="JetBrains Mono" pitchFamily="49" charset="-122"/>
                <a:cs typeface="JetBrains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C"/>
        </a:solidFill>
      </p:bgPr>
    </p:bg>
    <p:spTree>
      <p:nvGrpSpPr>
        <p:cNvPr id="1" name=""/>
        <p:cNvGrpSpPr/>
        <p:nvPr/>
      </p:nvGrpSpPr>
      <p:grpSpPr>
        <a:xfrm>
          <a:off x="0" y="0"/>
          <a:ext cx="0" cy="0"/>
          <a:chOff x="0" y="0"/>
          <a:chExt cx="0" cy="0"/>
        </a:xfrm>
      </p:grpSpPr>
      <p:sp>
        <p:nvSpPr>
          <p:cNvPr id="2" name="Text 0"/>
          <p:cNvSpPr/>
          <p:nvPr/>
        </p:nvSpPr>
        <p:spPr>
          <a:xfrm>
            <a:off x="812750" y="812750"/>
            <a:ext cx="10883421" cy="238702"/>
          </a:xfrm>
          <a:prstGeom prst="rect">
            <a:avLst/>
          </a:prstGeom>
          <a:noFill/>
          <a:ln/>
        </p:spPr>
        <p:txBody>
          <a:bodyPr wrap="square" lIns="0" tIns="0" rIns="0" bIns="0" rtlCol="0" anchor="t">
            <a:normAutofit/>
          </a:bodyPr>
          <a:lstStyle/>
          <a:p>
            <a:pPr algn="l" indent="0" marL="0">
              <a:lnSpc>
                <a:spcPts val="1680"/>
              </a:lnSpc>
              <a:buNone/>
            </a:pPr>
            <a:r>
              <a:rPr lang="en-US" sz="1200" spc="120" kern="0" dirty="0">
                <a:solidFill>
                  <a:srgbClr val="E3A23C"/>
                </a:solidFill>
                <a:latin typeface="JetBrains Mono" pitchFamily="49" charset="0"/>
                <a:ea typeface="JetBrains Mono" pitchFamily="49" charset="-122"/>
                <a:cs typeface="JetBrains Mono" pitchFamily="49" charset="-120"/>
              </a:rPr>
              <a:t>THE QUANTUM PART</a:t>
            </a:r>
            <a:endParaRPr lang="en-US" sz="1200" dirty="0"/>
          </a:p>
        </p:txBody>
      </p:sp>
      <p:sp>
        <p:nvSpPr>
          <p:cNvPr id="3" name="Text 1"/>
          <p:cNvSpPr/>
          <p:nvPr>
            <p:ph type="title"/>
          </p:nvPr>
        </p:nvSpPr>
        <p:spPr>
          <a:xfrm>
            <a:off x="812750" y="1191124"/>
            <a:ext cx="10883421" cy="478798"/>
          </a:xfrm>
          <a:prstGeom prst="rect">
            <a:avLst/>
          </a:prstGeom>
          <a:noFill/>
          <a:ln/>
        </p:spPr>
        <p:txBody>
          <a:bodyPr wrap="square" lIns="0" tIns="0" rIns="0" bIns="0" rtlCol="0" anchor="t">
            <a:normAutofit/>
          </a:bodyPr>
          <a:lstStyle/>
          <a:p>
            <a:pPr algn="l" indent="0" marL="0">
              <a:lnSpc>
                <a:spcPts val="3570"/>
              </a:lnSpc>
              <a:buNone/>
            </a:pPr>
            <a:r>
              <a:rPr lang="en-US" sz="3400" b="1" i="0" spc="-120" kern="0" dirty="0">
                <a:solidFill>
                  <a:srgbClr val="ECE6DB"/>
                </a:solidFill>
                <a:latin typeface="Space Grotesk" pitchFamily="34" charset="0"/>
                <a:ea typeface="Space Grotesk" pitchFamily="34" charset="-122"/>
                <a:cs typeface="Space Grotesk" pitchFamily="34" charset="-120"/>
              </a:rPr>
              <a:t>QUBO → Ising → QAOA</a:t>
            </a:r>
            <a:endParaRPr lang="en-US" sz="3400" dirty="0"/>
          </a:p>
        </p:txBody>
      </p:sp>
      <p:sp>
        <p:nvSpPr>
          <p:cNvPr id="4" name="Shape 2"/>
          <p:cNvSpPr/>
          <p:nvPr/>
        </p:nvSpPr>
        <p:spPr>
          <a:xfrm>
            <a:off x="812750" y="1812767"/>
            <a:ext cx="10566428" cy="0"/>
          </a:xfrm>
          <a:prstGeom prst="line">
            <a:avLst/>
          </a:prstGeom>
          <a:noFill/>
          <a:ln w="6350">
            <a:solidFill>
              <a:srgbClr val="272621"/>
            </a:solidFill>
            <a:prstDash val="solid"/>
          </a:ln>
        </p:spPr>
      </p:sp>
      <p:sp>
        <p:nvSpPr>
          <p:cNvPr id="5" name="Text 3"/>
          <p:cNvSpPr/>
          <p:nvPr/>
        </p:nvSpPr>
        <p:spPr>
          <a:xfrm>
            <a:off x="812750" y="2193401"/>
            <a:ext cx="939783"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57F75"/>
                </a:solidFill>
                <a:latin typeface="JetBrains Mono" pitchFamily="49" charset="0"/>
                <a:ea typeface="JetBrains Mono" pitchFamily="49" charset="-122"/>
                <a:cs typeface="JetBrains Mono" pitchFamily="49" charset="-120"/>
              </a:rPr>
              <a:t>QUBO</a:t>
            </a:r>
            <a:endParaRPr lang="en-US" sz="1200" dirty="0"/>
          </a:p>
        </p:txBody>
      </p:sp>
      <p:sp>
        <p:nvSpPr>
          <p:cNvPr id="6" name="Text 4"/>
          <p:cNvSpPr/>
          <p:nvPr/>
        </p:nvSpPr>
        <p:spPr>
          <a:xfrm>
            <a:off x="2057311" y="2004854"/>
            <a:ext cx="9601523" cy="311161"/>
          </a:xfrm>
          <a:prstGeom prst="rect">
            <a:avLst/>
          </a:prstGeom>
          <a:noFill/>
          <a:ln/>
        </p:spPr>
        <p:txBody>
          <a:bodyPr wrap="none" lIns="0" tIns="0" rIns="0" bIns="0" rtlCol="0" anchor="t">
            <a:normAutofit/>
          </a:bodyPr>
          <a:lstStyle/>
          <a:p>
            <a:pPr algn="l" indent="0" marL="0">
              <a:lnSpc>
                <a:spcPts val="2250"/>
              </a:lnSpc>
              <a:buNone/>
            </a:pPr>
            <a:r>
              <a:rPr lang="en-US" sz="1500" dirty="0">
                <a:solidFill>
                  <a:srgbClr val="ECE6DB"/>
                </a:solidFill>
                <a:latin typeface="JetBrains Mono" pitchFamily="49" charset="0"/>
                <a:ea typeface="JetBrains Mono" pitchFamily="49" charset="-122"/>
                <a:cs typeface="JetBrains Mono" pitchFamily="49" charset="-120"/>
              </a:rPr>
              <a:t>E(x) = xᵀ Q x + c Q symmetric, Q_ij = c_ij / 2</a:t>
            </a:r>
            <a:endParaRPr lang="en-US" sz="1500" dirty="0"/>
          </a:p>
        </p:txBody>
      </p:sp>
      <p:sp>
        <p:nvSpPr>
          <p:cNvPr id="7" name="Text 5"/>
          <p:cNvSpPr/>
          <p:nvPr/>
        </p:nvSpPr>
        <p:spPr>
          <a:xfrm>
            <a:off x="2057311" y="2366773"/>
            <a:ext cx="9601523" cy="253948"/>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38D83"/>
                </a:solidFill>
                <a:latin typeface="Space Grotesk" pitchFamily="34" charset="0"/>
                <a:ea typeface="Space Grotesk" pitchFamily="34" charset="-122"/>
                <a:cs typeface="Space Grotesk" pitchFamily="34" charset="-120"/>
              </a:rPr>
              <a:t>The factor of two is where naive implementations go wrong. A test asserts matrix and polynomial agree on every assignment.</a:t>
            </a:r>
            <a:endParaRPr lang="en-US" sz="1200" dirty="0"/>
          </a:p>
        </p:txBody>
      </p:sp>
      <p:sp>
        <p:nvSpPr>
          <p:cNvPr id="8" name="Shape 6"/>
          <p:cNvSpPr/>
          <p:nvPr/>
        </p:nvSpPr>
        <p:spPr>
          <a:xfrm>
            <a:off x="812750" y="2954000"/>
            <a:ext cx="10566428" cy="0"/>
          </a:xfrm>
          <a:prstGeom prst="line">
            <a:avLst/>
          </a:prstGeom>
          <a:noFill/>
          <a:ln w="6350">
            <a:solidFill>
              <a:srgbClr val="272621"/>
            </a:solidFill>
            <a:prstDash val="solid"/>
          </a:ln>
        </p:spPr>
      </p:sp>
      <p:sp>
        <p:nvSpPr>
          <p:cNvPr id="9" name="Text 7"/>
          <p:cNvSpPr/>
          <p:nvPr/>
        </p:nvSpPr>
        <p:spPr>
          <a:xfrm>
            <a:off x="812750" y="3334631"/>
            <a:ext cx="939783"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57F75"/>
                </a:solidFill>
                <a:latin typeface="JetBrains Mono" pitchFamily="49" charset="0"/>
                <a:ea typeface="JetBrains Mono" pitchFamily="49" charset="-122"/>
                <a:cs typeface="JetBrains Mono" pitchFamily="49" charset="-120"/>
              </a:rPr>
              <a:t>ISING</a:t>
            </a:r>
            <a:endParaRPr lang="en-US" sz="1200" dirty="0"/>
          </a:p>
        </p:txBody>
      </p:sp>
      <p:sp>
        <p:nvSpPr>
          <p:cNvPr id="10" name="Text 8"/>
          <p:cNvSpPr/>
          <p:nvPr/>
        </p:nvSpPr>
        <p:spPr>
          <a:xfrm>
            <a:off x="2057311" y="3146087"/>
            <a:ext cx="9601523" cy="311161"/>
          </a:xfrm>
          <a:prstGeom prst="rect">
            <a:avLst/>
          </a:prstGeom>
          <a:noFill/>
          <a:ln/>
        </p:spPr>
        <p:txBody>
          <a:bodyPr wrap="none" lIns="0" tIns="0" rIns="0" bIns="0" rtlCol="0" anchor="t">
            <a:normAutofit/>
          </a:bodyPr>
          <a:lstStyle/>
          <a:p>
            <a:pPr algn="l" indent="0" marL="0">
              <a:lnSpc>
                <a:spcPts val="2250"/>
              </a:lnSpc>
              <a:buNone/>
            </a:pPr>
            <a:r>
              <a:rPr lang="en-US" sz="1500" dirty="0">
                <a:solidFill>
                  <a:srgbClr val="E3A23C"/>
                </a:solidFill>
                <a:latin typeface="JetBrains Mono" pitchFamily="49" charset="0"/>
                <a:ea typeface="JetBrains Mono" pitchFamily="49" charset="-122"/>
                <a:cs typeface="JetBrains Mono" pitchFamily="49" charset="-120"/>
              </a:rPr>
              <a:t>x_i = (1 − Z_i) / 2 → diagonal SparsePauliOp, I / Z / ZZ only</a:t>
            </a:r>
            <a:endParaRPr lang="en-US" sz="1500" dirty="0"/>
          </a:p>
        </p:txBody>
      </p:sp>
      <p:sp>
        <p:nvSpPr>
          <p:cNvPr id="11" name="Text 9"/>
          <p:cNvSpPr/>
          <p:nvPr/>
        </p:nvSpPr>
        <p:spPr>
          <a:xfrm>
            <a:off x="2057311" y="3508003"/>
            <a:ext cx="9601523" cy="253948"/>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38D83"/>
                </a:solidFill>
                <a:latin typeface="Space Grotesk" pitchFamily="34" charset="0"/>
                <a:ea typeface="Space Grotesk" pitchFamily="34" charset="-122"/>
                <a:cs typeface="Space Grotesk" pitchFamily="34" charset="-120"/>
              </a:rPr>
              <a:t>The identity offset is kept, so ⟨x|H_C|x⟩ equals E_QUBO(x) exactly. Verified on every basis state.</a:t>
            </a:r>
            <a:endParaRPr lang="en-US" sz="1200" dirty="0"/>
          </a:p>
        </p:txBody>
      </p:sp>
      <p:sp>
        <p:nvSpPr>
          <p:cNvPr id="12" name="Shape 10"/>
          <p:cNvSpPr/>
          <p:nvPr/>
        </p:nvSpPr>
        <p:spPr>
          <a:xfrm>
            <a:off x="812750" y="4095229"/>
            <a:ext cx="10566428" cy="0"/>
          </a:xfrm>
          <a:prstGeom prst="line">
            <a:avLst/>
          </a:prstGeom>
          <a:noFill/>
          <a:ln w="6350">
            <a:solidFill>
              <a:srgbClr val="272621"/>
            </a:solidFill>
            <a:prstDash val="solid"/>
          </a:ln>
        </p:spPr>
      </p:sp>
      <p:sp>
        <p:nvSpPr>
          <p:cNvPr id="13" name="Text 11"/>
          <p:cNvSpPr/>
          <p:nvPr/>
        </p:nvSpPr>
        <p:spPr>
          <a:xfrm>
            <a:off x="812750" y="4475863"/>
            <a:ext cx="939783"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57F75"/>
                </a:solidFill>
                <a:latin typeface="JetBrains Mono" pitchFamily="49" charset="0"/>
                <a:ea typeface="JetBrains Mono" pitchFamily="49" charset="-122"/>
                <a:cs typeface="JetBrains Mono" pitchFamily="49" charset="-120"/>
              </a:rPr>
              <a:t>QAOA</a:t>
            </a:r>
            <a:endParaRPr lang="en-US" sz="1200" dirty="0"/>
          </a:p>
        </p:txBody>
      </p:sp>
      <p:sp>
        <p:nvSpPr>
          <p:cNvPr id="14" name="Text 12"/>
          <p:cNvSpPr/>
          <p:nvPr/>
        </p:nvSpPr>
        <p:spPr>
          <a:xfrm>
            <a:off x="2057311" y="4287317"/>
            <a:ext cx="9601523" cy="311161"/>
          </a:xfrm>
          <a:prstGeom prst="rect">
            <a:avLst/>
          </a:prstGeom>
          <a:noFill/>
          <a:ln/>
        </p:spPr>
        <p:txBody>
          <a:bodyPr wrap="none" lIns="0" tIns="0" rIns="0" bIns="0" rtlCol="0" anchor="t">
            <a:normAutofit/>
          </a:bodyPr>
          <a:lstStyle/>
          <a:p>
            <a:pPr algn="l" indent="0" marL="0">
              <a:lnSpc>
                <a:spcPts val="2250"/>
              </a:lnSpc>
              <a:buNone/>
            </a:pPr>
            <a:r>
              <a:rPr lang="en-US" sz="1500" dirty="0">
                <a:solidFill>
                  <a:srgbClr val="ECE6DB"/>
                </a:solidFill>
                <a:latin typeface="JetBrains Mono" pitchFamily="49" charset="0"/>
                <a:ea typeface="JetBrains Mono" pitchFamily="49" charset="-122"/>
                <a:cs typeface="JetBrains Mono" pitchFamily="49" charset="-120"/>
              </a:rPr>
              <a:t>|ψ(γ,β)&gt; = Π_l e^(−iβ_l ΣX_i) e^(−iγ_l H_C) |+&gt;^N</a:t>
            </a:r>
            <a:endParaRPr lang="en-US" sz="1500" dirty="0"/>
          </a:p>
        </p:txBody>
      </p:sp>
      <p:sp>
        <p:nvSpPr>
          <p:cNvPr id="15" name="Text 13"/>
          <p:cNvSpPr/>
          <p:nvPr/>
        </p:nvSpPr>
        <p:spPr>
          <a:xfrm>
            <a:off x="2057311" y="4649236"/>
            <a:ext cx="9601523" cy="253948"/>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38D83"/>
                </a:solidFill>
                <a:latin typeface="Space Grotesk" pitchFamily="34" charset="0"/>
                <a:ea typeface="Space Grotesk" pitchFamily="34" charset="-122"/>
                <a:cs typeface="Space Grotesk" pitchFamily="34" charset="-120"/>
              </a:rPr>
              <a:t>H_C is diagonal, so e^(−iγH_C) factorises exactly into commuting RZ and RZZ rotations.</a:t>
            </a:r>
            <a:endParaRPr lang="en-US" sz="1200" dirty="0"/>
          </a:p>
        </p:txBody>
      </p:sp>
      <p:sp>
        <p:nvSpPr>
          <p:cNvPr id="16" name="Shape 14"/>
          <p:cNvSpPr/>
          <p:nvPr/>
        </p:nvSpPr>
        <p:spPr>
          <a:xfrm>
            <a:off x="812750" y="5236462"/>
            <a:ext cx="10566428" cy="0"/>
          </a:xfrm>
          <a:prstGeom prst="line">
            <a:avLst/>
          </a:prstGeom>
          <a:noFill/>
          <a:ln w="6350">
            <a:solidFill>
              <a:srgbClr val="272621"/>
            </a:solidFill>
            <a:prstDash val="solid"/>
          </a:ln>
        </p:spPr>
      </p:sp>
      <p:sp>
        <p:nvSpPr>
          <p:cNvPr id="17" name="Text 15"/>
          <p:cNvSpPr/>
          <p:nvPr/>
        </p:nvSpPr>
        <p:spPr>
          <a:xfrm>
            <a:off x="812750" y="5276217"/>
            <a:ext cx="10883421" cy="50402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938D83"/>
                </a:solidFill>
                <a:latin typeface="Space Grotesk" pitchFamily="34" charset="0"/>
                <a:ea typeface="Space Grotesk" pitchFamily="34" charset="-122"/>
                <a:cs typeface="Space Grotesk" pitchFamily="34" charset="-120"/>
              </a:rPr>
              <a:t>Building that circuit explicitly, instead of exponentiating a sparse matrix once per objective call, took a run from </a:t>
            </a:r>
            <a:r>
              <a:rPr lang="en-US" sz="1300" dirty="0">
                <a:solidFill>
                  <a:srgbClr val="ECE6DB"/>
                </a:solidFill>
                <a:latin typeface="Space Grotesk" pitchFamily="34" charset="0"/>
                <a:ea typeface="Space Grotesk" pitchFamily="34" charset="-122"/>
                <a:cs typeface="Space Grotesk" pitchFamily="34" charset="-120"/>
              </a:rPr>
              <a:t>minutes to under two seconds</a:t>
            </a:r>
            <a:r>
              <a:rPr lang="en-US" sz="1300" dirty="0">
                <a:solidFill>
                  <a:srgbClr val="938D83"/>
                </a:solidFill>
                <a:latin typeface="Space Grotesk" pitchFamily="34" charset="0"/>
                <a:ea typeface="Space Grotesk" pitchFamily="34" charset="-122"/>
                <a:cs typeface="Space Grotesk" pitchFamily="34" charset="-120"/>
              </a:rPr>
              <a:t>. The fast NumPy path is asserted to match real Qiskit to </a:t>
            </a:r>
            <a:r>
              <a:rPr lang="en-US" sz="1300" dirty="0">
                <a:solidFill>
                  <a:srgbClr val="E3A23C"/>
                </a:solidFill>
                <a:latin typeface="Space Grotesk" pitchFamily="34" charset="0"/>
                <a:ea typeface="Space Grotesk" pitchFamily="34" charset="-122"/>
                <a:cs typeface="Space Grotesk" pitchFamily="34" charset="-120"/>
              </a:rPr>
              <a:t>4.6e−16</a:t>
            </a:r>
            <a:r>
              <a:rPr lang="en-US" sz="1300" dirty="0">
                <a:solidFill>
                  <a:srgbClr val="938D83"/>
                </a:solidFill>
                <a:latin typeface="Space Grotesk" pitchFamily="34" charset="0"/>
                <a:ea typeface="Space Grotesk" pitchFamily="34" charset="-122"/>
                <a:cs typeface="Space Grotesk" pitchFamily="34" charset="-120"/>
              </a:rPr>
              <a:t>.</a:t>
            </a:r>
            <a:endParaRPr lang="en-US" sz="1300" dirty="0"/>
          </a:p>
        </p:txBody>
      </p:sp>
      <p:sp>
        <p:nvSpPr>
          <p:cNvPr id="18" name="Text 16"/>
          <p:cNvSpPr/>
          <p:nvPr/>
        </p:nvSpPr>
        <p:spPr>
          <a:xfrm>
            <a:off x="9804396" y="6238280"/>
            <a:ext cx="1574781" cy="23870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57F75"/>
                </a:solidFill>
                <a:latin typeface="JetBrains Mono" pitchFamily="49" charset="0"/>
                <a:ea typeface="JetBrains Mono" pitchFamily="49" charset="-122"/>
                <a:cs typeface="JetBrains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214"/>
        </a:solidFill>
      </p:bgPr>
    </p:bg>
    <p:spTree>
      <p:nvGrpSpPr>
        <p:cNvPr id="1" name=""/>
        <p:cNvGrpSpPr/>
        <p:nvPr/>
      </p:nvGrpSpPr>
      <p:grpSpPr>
        <a:xfrm>
          <a:off x="0" y="0"/>
          <a:ext cx="0" cy="0"/>
          <a:chOff x="0" y="0"/>
          <a:chExt cx="0" cy="0"/>
        </a:xfrm>
      </p:grpSpPr>
      <p:sp>
        <p:nvSpPr>
          <p:cNvPr id="2" name="Text 0"/>
          <p:cNvSpPr/>
          <p:nvPr/>
        </p:nvSpPr>
        <p:spPr>
          <a:xfrm>
            <a:off x="812750" y="812750"/>
            <a:ext cx="10883421" cy="238702"/>
          </a:xfrm>
          <a:prstGeom prst="rect">
            <a:avLst/>
          </a:prstGeom>
          <a:noFill/>
          <a:ln/>
        </p:spPr>
        <p:txBody>
          <a:bodyPr wrap="square" lIns="0" tIns="0" rIns="0" bIns="0" rtlCol="0" anchor="t">
            <a:normAutofit/>
          </a:bodyPr>
          <a:lstStyle/>
          <a:p>
            <a:pPr algn="l" indent="0" marL="0">
              <a:lnSpc>
                <a:spcPts val="1680"/>
              </a:lnSpc>
              <a:buNone/>
            </a:pPr>
            <a:r>
              <a:rPr lang="en-US" sz="1200" spc="120" kern="0" dirty="0">
                <a:solidFill>
                  <a:srgbClr val="E3A23C"/>
                </a:solidFill>
                <a:latin typeface="JetBrains Mono" pitchFamily="49" charset="0"/>
                <a:ea typeface="JetBrains Mono" pitchFamily="49" charset="-122"/>
                <a:cs typeface="JetBrains Mono" pitchFamily="49" charset="-120"/>
              </a:rPr>
              <a:t>VERIFICATION</a:t>
            </a:r>
            <a:endParaRPr lang="en-US" sz="1200" dirty="0"/>
          </a:p>
        </p:txBody>
      </p:sp>
      <p:sp>
        <p:nvSpPr>
          <p:cNvPr id="3" name="Text 1"/>
          <p:cNvSpPr/>
          <p:nvPr>
            <p:ph type="title"/>
          </p:nvPr>
        </p:nvSpPr>
        <p:spPr>
          <a:xfrm>
            <a:off x="812750" y="1241918"/>
            <a:ext cx="10883421" cy="772031"/>
          </a:xfrm>
          <a:prstGeom prst="rect">
            <a:avLst/>
          </a:prstGeom>
          <a:noFill/>
          <a:ln/>
        </p:spPr>
        <p:txBody>
          <a:bodyPr wrap="square" lIns="0" tIns="0" rIns="0" bIns="0" rtlCol="0" anchor="t">
            <a:normAutofit/>
          </a:bodyPr>
          <a:lstStyle/>
          <a:p>
            <a:pPr algn="l" indent="0" marL="0">
              <a:lnSpc>
                <a:spcPts val="2940"/>
              </a:lnSpc>
              <a:buNone/>
            </a:pPr>
            <a:r>
              <a:rPr lang="en-US" sz="2800" b="1" i="0" spc="-100" kern="0" dirty="0">
                <a:solidFill>
                  <a:srgbClr val="ECE6DB"/>
                </a:solidFill>
                <a:latin typeface="Space Grotesk" pitchFamily="34" charset="0"/>
                <a:ea typeface="Space Grotesk" pitchFamily="34" charset="-122"/>
                <a:cs typeface="Space Grotesk" pitchFamily="34" charset="-120"/>
              </a:rPr>
              <a:t>Structural claims are checked by a test,</a:t>
            </a:r>
            <a:endParaRPr lang="en-US" sz="2800" dirty="0"/>
          </a:p>
          <a:p>
            <a:pPr algn="l" indent="0" marL="0">
              <a:lnSpc>
                <a:spcPts val="2940"/>
              </a:lnSpc>
              <a:buNone/>
            </a:pPr>
            <a:r>
              <a:rPr lang="en-US" sz="2800" b="1" i="0" spc="-100" kern="0" dirty="0">
                <a:solidFill>
                  <a:srgbClr val="ECE6DB"/>
                </a:solidFill>
                <a:latin typeface="Space Grotesk" pitchFamily="34" charset="0"/>
                <a:ea typeface="Space Grotesk" pitchFamily="34" charset="-122"/>
                <a:cs typeface="Space Grotesk" pitchFamily="34" charset="-120"/>
              </a:rPr>
              <a:t>not asserted in a README</a:t>
            </a:r>
            <a:endParaRPr lang="en-US" sz="2800" dirty="0"/>
          </a:p>
        </p:txBody>
      </p:sp>
      <p:sp>
        <p:nvSpPr>
          <p:cNvPr id="4" name="Shape 2"/>
          <p:cNvSpPr/>
          <p:nvPr/>
        </p:nvSpPr>
        <p:spPr>
          <a:xfrm>
            <a:off x="812750" y="2207592"/>
            <a:ext cx="5283176" cy="0"/>
          </a:xfrm>
          <a:prstGeom prst="line">
            <a:avLst/>
          </a:prstGeom>
          <a:noFill/>
          <a:ln w="6350">
            <a:solidFill>
              <a:srgbClr val="272621"/>
            </a:solidFill>
            <a:prstDash val="solid"/>
          </a:ln>
        </p:spPr>
      </p:sp>
      <p:sp>
        <p:nvSpPr>
          <p:cNvPr id="5" name="Text 3"/>
          <p:cNvSpPr/>
          <p:nvPr/>
        </p:nvSpPr>
        <p:spPr>
          <a:xfrm>
            <a:off x="812750" y="2348883"/>
            <a:ext cx="5441671" cy="231154"/>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ECE6DB"/>
                </a:solidFill>
                <a:latin typeface="Space Grotesk" pitchFamily="34" charset="0"/>
                <a:ea typeface="Space Grotesk" pitchFamily="34" charset="-122"/>
                <a:cs typeface="Space Grotesk" pitchFamily="34" charset="-120"/>
              </a:rPr>
              <a:t>Matrix ≡ polynomial</a:t>
            </a:r>
            <a:endParaRPr lang="en-US" sz="1350" dirty="0"/>
          </a:p>
        </p:txBody>
      </p:sp>
      <p:sp>
        <p:nvSpPr>
          <p:cNvPr id="6" name="Text 4"/>
          <p:cNvSpPr/>
          <p:nvPr/>
        </p:nvSpPr>
        <p:spPr>
          <a:xfrm>
            <a:off x="812750" y="2611772"/>
            <a:ext cx="5441671" cy="23107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938D83"/>
                </a:solidFill>
                <a:latin typeface="Space Grotesk" pitchFamily="34" charset="0"/>
                <a:ea typeface="Space Grotesk" pitchFamily="34" charset="-122"/>
                <a:cs typeface="Space Grotesk" pitchFamily="34" charset="-120"/>
              </a:rPr>
              <a:t>the derived Q reproduces the source polynomial on every assignment</a:t>
            </a:r>
            <a:endParaRPr lang="en-US" sz="1200" dirty="0"/>
          </a:p>
        </p:txBody>
      </p:sp>
      <p:sp>
        <p:nvSpPr>
          <p:cNvPr id="7" name="Shape 5"/>
          <p:cNvSpPr/>
          <p:nvPr/>
        </p:nvSpPr>
        <p:spPr>
          <a:xfrm>
            <a:off x="6095926" y="2207592"/>
            <a:ext cx="5283252" cy="0"/>
          </a:xfrm>
          <a:prstGeom prst="line">
            <a:avLst/>
          </a:prstGeom>
          <a:noFill/>
          <a:ln w="6350">
            <a:solidFill>
              <a:srgbClr val="272621"/>
            </a:solidFill>
            <a:prstDash val="solid"/>
          </a:ln>
        </p:spPr>
      </p:sp>
      <p:sp>
        <p:nvSpPr>
          <p:cNvPr id="8" name="Text 6"/>
          <p:cNvSpPr/>
          <p:nvPr/>
        </p:nvSpPr>
        <p:spPr>
          <a:xfrm>
            <a:off x="6095926" y="2348883"/>
            <a:ext cx="5441749" cy="231154"/>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ECE6DB"/>
                </a:solidFill>
                <a:latin typeface="Space Grotesk" pitchFamily="34" charset="0"/>
                <a:ea typeface="Space Grotesk" pitchFamily="34" charset="-122"/>
                <a:cs typeface="Space Grotesk" pitchFamily="34" charset="-120"/>
              </a:rPr>
              <a:t>Penalty sufficiency</a:t>
            </a:r>
            <a:endParaRPr lang="en-US" sz="1350" dirty="0"/>
          </a:p>
        </p:txBody>
      </p:sp>
      <p:sp>
        <p:nvSpPr>
          <p:cNvPr id="9" name="Text 7"/>
          <p:cNvSpPr/>
          <p:nvPr/>
        </p:nvSpPr>
        <p:spPr>
          <a:xfrm>
            <a:off x="6095926" y="2611772"/>
            <a:ext cx="5441749" cy="436756"/>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938D83"/>
                </a:solidFill>
                <a:latin typeface="Space Grotesk" pitchFamily="34" charset="0"/>
                <a:ea typeface="Space Grotesk" pitchFamily="34" charset="-122"/>
                <a:cs typeface="Space Grotesk" pitchFamily="34" charset="-120"/>
              </a:rPr>
              <a:t>every infeasible assignment sits strictly above every feasible one, by enumeration</a:t>
            </a:r>
            <a:endParaRPr lang="en-US" sz="1200" dirty="0"/>
          </a:p>
        </p:txBody>
      </p:sp>
      <p:sp>
        <p:nvSpPr>
          <p:cNvPr id="10" name="Shape 8"/>
          <p:cNvSpPr/>
          <p:nvPr/>
        </p:nvSpPr>
        <p:spPr>
          <a:xfrm>
            <a:off x="812750" y="3165940"/>
            <a:ext cx="5283176" cy="0"/>
          </a:xfrm>
          <a:prstGeom prst="line">
            <a:avLst/>
          </a:prstGeom>
          <a:noFill/>
          <a:ln w="6350">
            <a:solidFill>
              <a:srgbClr val="272621"/>
            </a:solidFill>
            <a:prstDash val="solid"/>
          </a:ln>
        </p:spPr>
      </p:sp>
      <p:sp>
        <p:nvSpPr>
          <p:cNvPr id="11" name="Text 9"/>
          <p:cNvSpPr/>
          <p:nvPr/>
        </p:nvSpPr>
        <p:spPr>
          <a:xfrm>
            <a:off x="812750" y="3307231"/>
            <a:ext cx="5441671" cy="231154"/>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ECE6DB"/>
                </a:solidFill>
                <a:latin typeface="Space Grotesk" pitchFamily="34" charset="0"/>
                <a:ea typeface="Space Grotesk" pitchFamily="34" charset="-122"/>
                <a:cs typeface="Space Grotesk" pitchFamily="34" charset="-120"/>
              </a:rPr>
              <a:t>A tiny penalty must fail</a:t>
            </a:r>
            <a:endParaRPr lang="en-US" sz="1350" dirty="0"/>
          </a:p>
        </p:txBody>
      </p:sp>
      <p:sp>
        <p:nvSpPr>
          <p:cNvPr id="12" name="Text 10"/>
          <p:cNvSpPr/>
          <p:nvPr/>
        </p:nvSpPr>
        <p:spPr>
          <a:xfrm>
            <a:off x="812750" y="3570120"/>
            <a:ext cx="5441671" cy="23107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938D83"/>
                </a:solidFill>
                <a:latin typeface="Space Grotesk" pitchFamily="34" charset="0"/>
                <a:ea typeface="Space Grotesk" pitchFamily="34" charset="-122"/>
                <a:cs typeface="Space Grotesk" pitchFamily="34" charset="-120"/>
              </a:rPr>
              <a:t>a test asserts the verifier rejects a deliberately insufficient penalty</a:t>
            </a:r>
            <a:endParaRPr lang="en-US" sz="1200" dirty="0"/>
          </a:p>
        </p:txBody>
      </p:sp>
      <p:sp>
        <p:nvSpPr>
          <p:cNvPr id="13" name="Shape 11"/>
          <p:cNvSpPr/>
          <p:nvPr/>
        </p:nvSpPr>
        <p:spPr>
          <a:xfrm>
            <a:off x="6095926" y="3165940"/>
            <a:ext cx="5283252" cy="0"/>
          </a:xfrm>
          <a:prstGeom prst="line">
            <a:avLst/>
          </a:prstGeom>
          <a:noFill/>
          <a:ln w="6350">
            <a:solidFill>
              <a:srgbClr val="272621"/>
            </a:solidFill>
            <a:prstDash val="solid"/>
          </a:ln>
        </p:spPr>
      </p:sp>
      <p:sp>
        <p:nvSpPr>
          <p:cNvPr id="14" name="Text 12"/>
          <p:cNvSpPr/>
          <p:nvPr/>
        </p:nvSpPr>
        <p:spPr>
          <a:xfrm>
            <a:off x="6095926" y="3307231"/>
            <a:ext cx="5441749" cy="231154"/>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ECE6DB"/>
                </a:solidFill>
                <a:latin typeface="Space Grotesk" pitchFamily="34" charset="0"/>
                <a:ea typeface="Space Grotesk" pitchFamily="34" charset="-122"/>
                <a:cs typeface="Space Grotesk" pitchFamily="34" charset="-120"/>
              </a:rPr>
              <a:t>Slack encoding</a:t>
            </a:r>
            <a:endParaRPr lang="en-US" sz="1350" dirty="0"/>
          </a:p>
        </p:txBody>
      </p:sp>
      <p:sp>
        <p:nvSpPr>
          <p:cNvPr id="15" name="Text 13"/>
          <p:cNvSpPr/>
          <p:nvPr/>
        </p:nvSpPr>
        <p:spPr>
          <a:xfrm>
            <a:off x="6095926" y="3570120"/>
            <a:ext cx="5441749" cy="23107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938D83"/>
                </a:solidFill>
                <a:latin typeface="Space Grotesk" pitchFamily="34" charset="0"/>
                <a:ea typeface="Space Grotesk" pitchFamily="34" charset="-122"/>
                <a:cs typeface="Space Grotesk" pitchFamily="34" charset="-120"/>
              </a:rPr>
              <a:t>the representable set is exactly {0...K}, with no over-coverage</a:t>
            </a:r>
            <a:endParaRPr lang="en-US" sz="1200" dirty="0"/>
          </a:p>
        </p:txBody>
      </p:sp>
      <p:sp>
        <p:nvSpPr>
          <p:cNvPr id="16" name="Shape 14"/>
          <p:cNvSpPr/>
          <p:nvPr/>
        </p:nvSpPr>
        <p:spPr>
          <a:xfrm>
            <a:off x="812750" y="3918607"/>
            <a:ext cx="5283176" cy="0"/>
          </a:xfrm>
          <a:prstGeom prst="line">
            <a:avLst/>
          </a:prstGeom>
          <a:noFill/>
          <a:ln w="6350">
            <a:solidFill>
              <a:srgbClr val="272621"/>
            </a:solidFill>
            <a:prstDash val="solid"/>
          </a:ln>
        </p:spPr>
      </p:sp>
      <p:sp>
        <p:nvSpPr>
          <p:cNvPr id="17" name="Text 15"/>
          <p:cNvSpPr/>
          <p:nvPr/>
        </p:nvSpPr>
        <p:spPr>
          <a:xfrm>
            <a:off x="812750" y="4059898"/>
            <a:ext cx="5441671" cy="231154"/>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ECE6DB"/>
                </a:solidFill>
                <a:latin typeface="Space Grotesk" pitchFamily="34" charset="0"/>
                <a:ea typeface="Space Grotesk" pitchFamily="34" charset="-122"/>
                <a:cs typeface="Space Grotesk" pitchFamily="34" charset="-120"/>
              </a:rPr>
              <a:t>Ising ≡ QUBO</a:t>
            </a:r>
            <a:endParaRPr lang="en-US" sz="1350" dirty="0"/>
          </a:p>
        </p:txBody>
      </p:sp>
      <p:sp>
        <p:nvSpPr>
          <p:cNvPr id="18" name="Text 16"/>
          <p:cNvSpPr/>
          <p:nvPr/>
        </p:nvSpPr>
        <p:spPr>
          <a:xfrm>
            <a:off x="812750" y="4322790"/>
            <a:ext cx="5441671" cy="23107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938D83"/>
                </a:solidFill>
                <a:latin typeface="Space Grotesk" pitchFamily="34" charset="0"/>
                <a:ea typeface="Space Grotesk" pitchFamily="34" charset="-122"/>
                <a:cs typeface="Space Grotesk" pitchFamily="34" charset="-120"/>
              </a:rPr>
              <a:t>checked on every basis state, identity offset included</a:t>
            </a:r>
            <a:endParaRPr lang="en-US" sz="1200" dirty="0"/>
          </a:p>
        </p:txBody>
      </p:sp>
      <p:sp>
        <p:nvSpPr>
          <p:cNvPr id="19" name="Shape 17"/>
          <p:cNvSpPr/>
          <p:nvPr/>
        </p:nvSpPr>
        <p:spPr>
          <a:xfrm>
            <a:off x="6095926" y="3918607"/>
            <a:ext cx="5283252" cy="0"/>
          </a:xfrm>
          <a:prstGeom prst="line">
            <a:avLst/>
          </a:prstGeom>
          <a:noFill/>
          <a:ln w="6350">
            <a:solidFill>
              <a:srgbClr val="272621"/>
            </a:solidFill>
            <a:prstDash val="solid"/>
          </a:ln>
        </p:spPr>
      </p:sp>
      <p:sp>
        <p:nvSpPr>
          <p:cNvPr id="20" name="Text 18"/>
          <p:cNvSpPr/>
          <p:nvPr/>
        </p:nvSpPr>
        <p:spPr>
          <a:xfrm>
            <a:off x="6095926" y="4059898"/>
            <a:ext cx="5441749" cy="231154"/>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ECE6DB"/>
                </a:solidFill>
                <a:latin typeface="Space Grotesk" pitchFamily="34" charset="0"/>
                <a:ea typeface="Space Grotesk" pitchFamily="34" charset="-122"/>
                <a:cs typeface="Space Grotesk" pitchFamily="34" charset="-120"/>
              </a:rPr>
              <a:t>Simulator ≡ Qiskit</a:t>
            </a:r>
            <a:endParaRPr lang="en-US" sz="1350" dirty="0"/>
          </a:p>
        </p:txBody>
      </p:sp>
      <p:sp>
        <p:nvSpPr>
          <p:cNvPr id="21" name="Text 19"/>
          <p:cNvSpPr/>
          <p:nvPr/>
        </p:nvSpPr>
        <p:spPr>
          <a:xfrm>
            <a:off x="6095926" y="4322790"/>
            <a:ext cx="5441749" cy="231078"/>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938D83"/>
                </a:solidFill>
                <a:latin typeface="Space Grotesk" pitchFamily="34" charset="0"/>
                <a:ea typeface="Space Grotesk" pitchFamily="34" charset="-122"/>
                <a:cs typeface="Space Grotesk" pitchFamily="34" charset="-120"/>
              </a:rPr>
              <a:t>the fast path matches a real Qiskit circuit to 4.6e−16</a:t>
            </a:r>
            <a:endParaRPr lang="en-US" sz="1200" dirty="0"/>
          </a:p>
        </p:txBody>
      </p:sp>
      <p:sp>
        <p:nvSpPr>
          <p:cNvPr id="22" name="Text 20"/>
          <p:cNvSpPr/>
          <p:nvPr/>
        </p:nvSpPr>
        <p:spPr>
          <a:xfrm>
            <a:off x="812750" y="4934772"/>
            <a:ext cx="10883421" cy="541064"/>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ECE6DB"/>
                </a:solidFill>
                <a:latin typeface="Space Grotesk" pitchFamily="34" charset="0"/>
                <a:ea typeface="Space Grotesk" pitchFamily="34" charset="-122"/>
                <a:cs typeface="Space Grotesk" pitchFamily="34" charset="-120"/>
              </a:rPr>
              <a:t>A hard-coded penalty of 1000 is rejected. The penalty comes from the </a:t>
            </a:r>
            <a:r>
              <a:rPr lang="en-US" sz="1450" dirty="0">
                <a:solidFill>
                  <a:srgbClr val="E3A23C"/>
                </a:solidFill>
                <a:latin typeface="Space Grotesk" pitchFamily="34" charset="0"/>
                <a:ea typeface="Space Grotesk" pitchFamily="34" charset="-122"/>
                <a:cs typeface="Space Grotesk" pitchFamily="34" charset="-120"/>
              </a:rPr>
              <a:t>exact span</a:t>
            </a:r>
            <a:r>
              <a:rPr lang="en-US" sz="1450" dirty="0">
                <a:solidFill>
                  <a:srgbClr val="ECE6DB"/>
                </a:solidFill>
                <a:latin typeface="Space Grotesk" pitchFamily="34" charset="0"/>
                <a:ea typeface="Space Grotesk" pitchFamily="34" charset="-122"/>
                <a:cs typeface="Space Grotesk" pitchFamily="34" charset="-120"/>
              </a:rPr>
              <a:t> of the unconstrained objective, then gets verified by enumeration.</a:t>
            </a:r>
            <a:endParaRPr lang="en-US" sz="1450" dirty="0"/>
          </a:p>
        </p:txBody>
      </p:sp>
      <p:sp>
        <p:nvSpPr>
          <p:cNvPr id="23" name="Text 21"/>
          <p:cNvSpPr/>
          <p:nvPr/>
        </p:nvSpPr>
        <p:spPr>
          <a:xfrm>
            <a:off x="9804396" y="6238277"/>
            <a:ext cx="1574781" cy="23870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57F75"/>
                </a:solidFill>
                <a:latin typeface="JetBrains Mono" pitchFamily="49" charset="0"/>
                <a:ea typeface="JetBrains Mono" pitchFamily="49" charset="-122"/>
                <a:cs typeface="JetBrains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0C"/>
        </a:solidFill>
      </p:bgPr>
    </p:bg>
    <p:spTree>
      <p:nvGrpSpPr>
        <p:cNvPr id="1" name=""/>
        <p:cNvGrpSpPr/>
        <p:nvPr/>
      </p:nvGrpSpPr>
      <p:grpSpPr>
        <a:xfrm>
          <a:off x="0" y="0"/>
          <a:ext cx="0" cy="0"/>
          <a:chOff x="0" y="0"/>
          <a:chExt cx="0" cy="0"/>
        </a:xfrm>
      </p:grpSpPr>
      <p:sp>
        <p:nvSpPr>
          <p:cNvPr id="2" name="Text 0"/>
          <p:cNvSpPr/>
          <p:nvPr/>
        </p:nvSpPr>
        <p:spPr>
          <a:xfrm>
            <a:off x="812750" y="1118059"/>
            <a:ext cx="5245527" cy="238702"/>
          </a:xfrm>
          <a:prstGeom prst="rect">
            <a:avLst/>
          </a:prstGeom>
          <a:noFill/>
          <a:ln/>
        </p:spPr>
        <p:txBody>
          <a:bodyPr wrap="square" lIns="0" tIns="0" rIns="0" bIns="0" rtlCol="0" anchor="t">
            <a:normAutofit/>
          </a:bodyPr>
          <a:lstStyle/>
          <a:p>
            <a:pPr algn="l" indent="0" marL="0">
              <a:lnSpc>
                <a:spcPts val="1680"/>
              </a:lnSpc>
              <a:buNone/>
            </a:pPr>
            <a:r>
              <a:rPr lang="en-US" sz="1200" spc="120" kern="0" dirty="0">
                <a:solidFill>
                  <a:srgbClr val="E3A23C"/>
                </a:solidFill>
                <a:latin typeface="JetBrains Mono" pitchFamily="49" charset="0"/>
                <a:ea typeface="JetBrains Mono" pitchFamily="49" charset="-122"/>
                <a:cs typeface="JetBrains Mono" pitchFamily="49" charset="-120"/>
              </a:rPr>
              <a:t>RESULT 1, THE UNFLATTERING ONE</a:t>
            </a:r>
            <a:endParaRPr lang="en-US" sz="1200" dirty="0"/>
          </a:p>
        </p:txBody>
      </p:sp>
      <p:sp>
        <p:nvSpPr>
          <p:cNvPr id="3" name="Text 1"/>
          <p:cNvSpPr/>
          <p:nvPr>
            <p:ph type="title"/>
          </p:nvPr>
        </p:nvSpPr>
        <p:spPr>
          <a:xfrm>
            <a:off x="812750" y="1521792"/>
            <a:ext cx="5245527" cy="1259696"/>
          </a:xfrm>
          <a:prstGeom prst="rect">
            <a:avLst/>
          </a:prstGeom>
          <a:noFill/>
          <a:ln/>
        </p:spPr>
        <p:txBody>
          <a:bodyPr wrap="square" lIns="0" tIns="0" rIns="0" bIns="0" rtlCol="0" anchor="t">
            <a:normAutofit/>
          </a:bodyPr>
          <a:lstStyle/>
          <a:p>
            <a:pPr algn="l" indent="0" marL="0">
              <a:lnSpc>
                <a:spcPts val="3240"/>
              </a:lnSpc>
              <a:buNone/>
            </a:pPr>
            <a:r>
              <a:rPr lang="en-US" sz="3000" b="1" i="0" spc="-105" kern="0" dirty="0">
                <a:solidFill>
                  <a:srgbClr val="ECE6DB"/>
                </a:solidFill>
                <a:latin typeface="Space Grotesk" pitchFamily="34" charset="0"/>
                <a:ea typeface="Space Grotesk" pitchFamily="34" charset="-122"/>
                <a:cs typeface="Space Grotesk" pitchFamily="34" charset="-120"/>
              </a:rPr>
              <a:t>We measured where</a:t>
            </a:r>
            <a:endParaRPr lang="en-US" sz="3000" dirty="0"/>
          </a:p>
          <a:p>
            <a:pPr algn="l" indent="0" marL="0">
              <a:lnSpc>
                <a:spcPts val="3240"/>
              </a:lnSpc>
              <a:buNone/>
            </a:pPr>
            <a:r>
              <a:rPr lang="en-US" sz="3000" b="1" i="0" spc="-105" kern="0" dirty="0">
                <a:solidFill>
                  <a:srgbClr val="ECE6DB"/>
                </a:solidFill>
                <a:latin typeface="Space Grotesk" pitchFamily="34" charset="0"/>
                <a:ea typeface="Space Grotesk" pitchFamily="34" charset="-122"/>
                <a:cs typeface="Space Grotesk" pitchFamily="34" charset="-120"/>
              </a:rPr>
              <a:t>the QUBO stops</a:t>
            </a:r>
            <a:endParaRPr lang="en-US" sz="3000" dirty="0"/>
          </a:p>
          <a:p>
            <a:pPr algn="l" indent="0" marL="0">
              <a:lnSpc>
                <a:spcPts val="3240"/>
              </a:lnSpc>
              <a:buNone/>
            </a:pPr>
            <a:r>
              <a:rPr lang="en-US" sz="3000" b="1" i="0" spc="-105" kern="0" dirty="0">
                <a:solidFill>
                  <a:srgbClr val="ECE6DB"/>
                </a:solidFill>
                <a:latin typeface="Space Grotesk" pitchFamily="34" charset="0"/>
                <a:ea typeface="Space Grotesk" pitchFamily="34" charset="-122"/>
                <a:cs typeface="Space Grotesk" pitchFamily="34" charset="-120"/>
              </a:rPr>
              <a:t>being exact</a:t>
            </a:r>
            <a:endParaRPr lang="en-US" sz="3000" dirty="0"/>
          </a:p>
        </p:txBody>
      </p:sp>
      <p:sp>
        <p:nvSpPr>
          <p:cNvPr id="4" name="Shape 2"/>
          <p:cNvSpPr/>
          <p:nvPr/>
        </p:nvSpPr>
        <p:spPr>
          <a:xfrm>
            <a:off x="812750" y="2949696"/>
            <a:ext cx="5092745" cy="0"/>
          </a:xfrm>
          <a:prstGeom prst="line">
            <a:avLst/>
          </a:prstGeom>
          <a:noFill/>
          <a:ln w="6350">
            <a:solidFill>
              <a:srgbClr val="272621"/>
            </a:solidFill>
            <a:prstDash val="solid"/>
          </a:ln>
        </p:spPr>
      </p:sp>
      <p:sp>
        <p:nvSpPr>
          <p:cNvPr id="5" name="Text 3"/>
          <p:cNvSpPr/>
          <p:nvPr/>
        </p:nvSpPr>
        <p:spPr>
          <a:xfrm>
            <a:off x="812750" y="3090987"/>
            <a:ext cx="5245527" cy="292065"/>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3A23C"/>
                </a:solidFill>
                <a:latin typeface="Space Grotesk" pitchFamily="34" charset="0"/>
                <a:ea typeface="Space Grotesk" pitchFamily="34" charset="-122"/>
                <a:cs typeface="Space Grotesk" pitchFamily="34" charset="-120"/>
              </a:rPr>
              <a:t>K ≤ 2 — exact</a:t>
            </a:r>
            <a:endParaRPr lang="en-US" sz="1500" dirty="0"/>
          </a:p>
        </p:txBody>
      </p:sp>
      <p:sp>
        <p:nvSpPr>
          <p:cNvPr id="6" name="Text 4"/>
          <p:cNvSpPr/>
          <p:nvPr/>
        </p:nvSpPr>
        <p:spPr>
          <a:xfrm>
            <a:off x="812750" y="3408446"/>
            <a:ext cx="5245527" cy="263458"/>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938D83"/>
                </a:solidFill>
                <a:latin typeface="Space Grotesk" pitchFamily="34" charset="0"/>
                <a:ea typeface="Space Grotesk" pitchFamily="34" charset="-122"/>
                <a:cs typeface="Space Grotesk" pitchFamily="34" charset="-120"/>
              </a:rPr>
              <a:t>All 102 feasible candidates: MAE 0.0000, Spearman 1.000.</a:t>
            </a:r>
            <a:endParaRPr lang="en-US" sz="1250" dirty="0"/>
          </a:p>
        </p:txBody>
      </p:sp>
      <p:sp>
        <p:nvSpPr>
          <p:cNvPr id="7" name="Shape 5"/>
          <p:cNvSpPr/>
          <p:nvPr/>
        </p:nvSpPr>
        <p:spPr>
          <a:xfrm>
            <a:off x="812750" y="3979748"/>
            <a:ext cx="5092745" cy="0"/>
          </a:xfrm>
          <a:prstGeom prst="line">
            <a:avLst/>
          </a:prstGeom>
          <a:noFill/>
          <a:ln w="6350">
            <a:solidFill>
              <a:srgbClr val="272621"/>
            </a:solidFill>
            <a:prstDash val="solid"/>
          </a:ln>
        </p:spPr>
      </p:sp>
      <p:sp>
        <p:nvSpPr>
          <p:cNvPr id="8" name="Text 6"/>
          <p:cNvSpPr/>
          <p:nvPr/>
        </p:nvSpPr>
        <p:spPr>
          <a:xfrm>
            <a:off x="812750" y="4121035"/>
            <a:ext cx="5245527" cy="292065"/>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7604A"/>
                </a:solidFill>
                <a:latin typeface="Space Grotesk" pitchFamily="34" charset="0"/>
                <a:ea typeface="Space Grotesk" pitchFamily="34" charset="-122"/>
                <a:cs typeface="Space Grotesk" pitchFamily="34" charset="-120"/>
              </a:rPr>
              <a:t>K = 3 — mediocre</a:t>
            </a:r>
            <a:endParaRPr lang="en-US" sz="1500" dirty="0"/>
          </a:p>
        </p:txBody>
      </p:sp>
      <p:sp>
        <p:nvSpPr>
          <p:cNvPr id="9" name="Text 7"/>
          <p:cNvSpPr/>
          <p:nvPr/>
        </p:nvSpPr>
        <p:spPr>
          <a:xfrm>
            <a:off x="812750" y="4438498"/>
            <a:ext cx="5245527" cy="501517"/>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938D83"/>
                </a:solidFill>
                <a:latin typeface="Space Grotesk" pitchFamily="34" charset="0"/>
                <a:ea typeface="Space Grotesk" pitchFamily="34" charset="-122"/>
                <a:cs typeface="Space Grotesk" pitchFamily="34" charset="-120"/>
              </a:rPr>
              <a:t>All 316 feasible 3-subsets: ρ = 0.516, but the surrogate’s own top pick ranks </a:t>
            </a:r>
            <a:r>
              <a:rPr lang="en-US" sz="1250" dirty="0">
                <a:solidFill>
                  <a:srgbClr val="ECE6DB"/>
                </a:solidFill>
                <a:latin typeface="Space Grotesk" pitchFamily="34" charset="0"/>
                <a:ea typeface="Space Grotesk" pitchFamily="34" charset="-122"/>
                <a:cs typeface="Space Grotesk" pitchFamily="34" charset="-120"/>
              </a:rPr>
              <a:t>164th of 316</a:t>
            </a:r>
            <a:r>
              <a:rPr lang="en-US" sz="1250" dirty="0">
                <a:solidFill>
                  <a:srgbClr val="938D83"/>
                </a:solidFill>
                <a:latin typeface="Space Grotesk" pitchFamily="34" charset="0"/>
                <a:ea typeface="Space Grotesk" pitchFamily="34" charset="-122"/>
                <a:cs typeface="Space Grotesk" pitchFamily="34" charset="-120"/>
              </a:rPr>
              <a:t>. The 48th percentile.</a:t>
            </a:r>
            <a:endParaRPr lang="en-US" sz="1250" dirty="0"/>
          </a:p>
        </p:txBody>
      </p:sp>
      <p:sp>
        <p:nvSpPr>
          <p:cNvPr id="10" name="Text 8"/>
          <p:cNvSpPr/>
          <p:nvPr/>
        </p:nvSpPr>
        <p:spPr>
          <a:xfrm>
            <a:off x="812750" y="5244681"/>
            <a:ext cx="5245527" cy="520537"/>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ECE6DB"/>
                </a:solidFill>
                <a:latin typeface="Space Grotesk" pitchFamily="34" charset="0"/>
                <a:ea typeface="Space Grotesk" pitchFamily="34" charset="-122"/>
                <a:cs typeface="Space Grotesk" pitchFamily="34" charset="-120"/>
              </a:rPr>
              <a:t>So the pipeline ranks by direct ML re-scoring, never by QUBO energy.</a:t>
            </a:r>
            <a:endParaRPr lang="en-US" sz="1300" dirty="0"/>
          </a:p>
        </p:txBody>
      </p:sp>
      <p:sp>
        <p:nvSpPr>
          <p:cNvPr id="11" name="Shape 9"/>
          <p:cNvSpPr/>
          <p:nvPr/>
        </p:nvSpPr>
        <p:spPr>
          <a:xfrm>
            <a:off x="6349986" y="0"/>
            <a:ext cx="5841941" cy="6857954"/>
          </a:xfrm>
          <a:prstGeom prst="rect">
            <a:avLst/>
          </a:prstGeom>
          <a:solidFill>
            <a:srgbClr val="ECE6DB"/>
          </a:solidFill>
          <a:ln/>
        </p:spPr>
      </p:sp>
      <p:pic>
        <p:nvPicPr>
          <p:cNvPr id="12" name="Image 0" descr="Surrogate fidelity at K=3: QUBO energy against true ML score over all feasible 3-subsets">    </p:cNvPr>
          <p:cNvPicPr>
            <a:picLocks noChangeAspect="1"/>
          </p:cNvPicPr>
          <p:nvPr/>
        </p:nvPicPr>
        <p:blipFill>
          <a:blip r:embed="rId1"/>
          <a:srcRect l="0" r="0" t="-16829" b="-16829"/>
          <a:stretch/>
        </p:blipFill>
        <p:spPr>
          <a:xfrm>
            <a:off x="6730925" y="1756380"/>
            <a:ext cx="5079989" cy="2984486"/>
          </a:xfrm>
          <a:prstGeom prst="rect">
            <a:avLst/>
          </a:prstGeom>
        </p:spPr>
      </p:pic>
      <p:sp>
        <p:nvSpPr>
          <p:cNvPr id="13" name="Text 10"/>
          <p:cNvSpPr/>
          <p:nvPr/>
        </p:nvSpPr>
        <p:spPr>
          <a:xfrm>
            <a:off x="6730925" y="4905967"/>
            <a:ext cx="5232466" cy="220935"/>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65C"/>
                </a:solidFill>
                <a:latin typeface="JetBrains Mono" pitchFamily="49" charset="0"/>
                <a:ea typeface="JetBrains Mono" pitchFamily="49" charset="-122"/>
                <a:cs typeface="JetBrains Mono" pitchFamily="49" charset="-120"/>
              </a:rPr>
              <a:t>fig. 1 — surrogate fidelity, K = 3</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0C"/>
        </a:solidFill>
      </p:bgPr>
    </p:bg>
    <p:spTree>
      <p:nvGrpSpPr>
        <p:cNvPr id="1" name=""/>
        <p:cNvGrpSpPr/>
        <p:nvPr/>
      </p:nvGrpSpPr>
      <p:grpSpPr>
        <a:xfrm>
          <a:off x="0" y="0"/>
          <a:ext cx="0" cy="0"/>
          <a:chOff x="0" y="0"/>
          <a:chExt cx="0" cy="0"/>
        </a:xfrm>
      </p:grpSpPr>
      <p:sp>
        <p:nvSpPr>
          <p:cNvPr id="2" name="Shape 0"/>
          <p:cNvSpPr/>
          <p:nvPr/>
        </p:nvSpPr>
        <p:spPr>
          <a:xfrm>
            <a:off x="0" y="0"/>
            <a:ext cx="12191927" cy="3268888"/>
          </a:xfrm>
          <a:prstGeom prst="rect">
            <a:avLst/>
          </a:prstGeom>
          <a:solidFill>
            <a:srgbClr val="ECE6DB"/>
          </a:solidFill>
          <a:ln/>
        </p:spPr>
      </p:sp>
      <p:pic>
        <p:nvPicPr>
          <p:cNvPr id="3" name="Image 0" descr="Scaling benchmark N=6 to N=18, QAOA success probability as a multiple of uniform random sampling">    </p:cNvPr>
          <p:cNvPicPr>
            <a:picLocks noChangeAspect="1"/>
          </p:cNvPicPr>
          <p:nvPr/>
        </p:nvPicPr>
        <p:blipFill>
          <a:blip r:embed="rId1"/>
          <a:srcRect l="-21147" r="-21147" t="0" b="0"/>
          <a:stretch/>
        </p:blipFill>
        <p:spPr>
          <a:xfrm>
            <a:off x="444491" y="253988"/>
            <a:ext cx="11302944" cy="2539994"/>
          </a:xfrm>
          <a:prstGeom prst="rect">
            <a:avLst/>
          </a:prstGeom>
        </p:spPr>
      </p:pic>
      <p:sp>
        <p:nvSpPr>
          <p:cNvPr id="4" name="Text 1"/>
          <p:cNvSpPr/>
          <p:nvPr/>
        </p:nvSpPr>
        <p:spPr>
          <a:xfrm>
            <a:off x="444491" y="2895581"/>
            <a:ext cx="11642033" cy="220958"/>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65C"/>
                </a:solidFill>
                <a:latin typeface="JetBrains Mono" pitchFamily="49" charset="0"/>
                <a:ea typeface="JetBrains Mono" pitchFamily="49" charset="-122"/>
                <a:cs typeface="JetBrains Mono" pitchFamily="49" charset="-120"/>
              </a:rPr>
              <a:t>fig. 2 — success probability as a multiple of uniform random, N = 6 to 18</a:t>
            </a:r>
            <a:endParaRPr lang="en-US" sz="1100" dirty="0"/>
          </a:p>
        </p:txBody>
      </p:sp>
      <p:sp>
        <p:nvSpPr>
          <p:cNvPr id="5" name="Text 2"/>
          <p:cNvSpPr/>
          <p:nvPr/>
        </p:nvSpPr>
        <p:spPr>
          <a:xfrm>
            <a:off x="812750" y="3548236"/>
            <a:ext cx="2746957" cy="571485"/>
          </a:xfrm>
          <a:prstGeom prst="rect">
            <a:avLst/>
          </a:prstGeom>
          <a:noFill/>
          <a:ln/>
        </p:spPr>
        <p:txBody>
          <a:bodyPr wrap="square" lIns="0" tIns="0" rIns="0" bIns="0" rtlCol="0" anchor="t">
            <a:normAutofit/>
          </a:bodyPr>
          <a:lstStyle/>
          <a:p>
            <a:pPr algn="l" indent="0" marL="0">
              <a:lnSpc>
                <a:spcPts val="4300"/>
              </a:lnSpc>
              <a:buNone/>
            </a:pPr>
            <a:r>
              <a:rPr lang="en-US" sz="4300" b="1" spc="-150" kern="0" dirty="0">
                <a:solidFill>
                  <a:srgbClr val="E3A23C"/>
                </a:solidFill>
                <a:latin typeface="Space Grotesk" pitchFamily="34" charset="0"/>
                <a:ea typeface="Space Grotesk" pitchFamily="34" charset="-122"/>
                <a:cs typeface="Space Grotesk" pitchFamily="34" charset="-120"/>
              </a:rPr>
              <a:t>390×</a:t>
            </a:r>
            <a:endParaRPr lang="en-US" sz="4300" dirty="0"/>
          </a:p>
        </p:txBody>
      </p:sp>
      <p:sp>
        <p:nvSpPr>
          <p:cNvPr id="6" name="Text 3"/>
          <p:cNvSpPr/>
          <p:nvPr/>
        </p:nvSpPr>
        <p:spPr>
          <a:xfrm>
            <a:off x="812750" y="4094318"/>
            <a:ext cx="2746957" cy="939593"/>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38D83"/>
                </a:solidFill>
                <a:latin typeface="Space Grotesk" pitchFamily="34" charset="0"/>
                <a:ea typeface="Space Grotesk" pitchFamily="34" charset="-122"/>
                <a:cs typeface="Space Grotesk" pitchFamily="34" charset="-120"/>
              </a:rPr>
              <a:t>uniform random at N=18, p=2. Uniform random is the baseline that matched QAOA in the closest comparable study.</a:t>
            </a:r>
            <a:endParaRPr lang="en-US" sz="1200" dirty="0"/>
          </a:p>
        </p:txBody>
      </p:sp>
      <p:sp>
        <p:nvSpPr>
          <p:cNvPr id="7" name="Text 4"/>
          <p:cNvSpPr/>
          <p:nvPr/>
        </p:nvSpPr>
        <p:spPr>
          <a:xfrm>
            <a:off x="3886074" y="3586274"/>
            <a:ext cx="7717897" cy="48747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CE6DB"/>
                </a:solidFill>
                <a:latin typeface="Space Grotesk" pitchFamily="34" charset="0"/>
                <a:ea typeface="Space Grotesk" pitchFamily="34" charset="-122"/>
                <a:cs typeface="Space Grotesk" pitchFamily="34" charset="-120"/>
              </a:rPr>
              <a:t>Depth does not reliably help. p=3 is worse than p=2 at N=12, 14 and 18. One run reached </a:t>
            </a:r>
            <a:r>
              <a:rPr lang="en-US" sz="1300" dirty="0">
                <a:solidFill>
                  <a:srgbClr val="C7604A"/>
                </a:solidFill>
                <a:latin typeface="Space Grotesk" pitchFamily="34" charset="0"/>
                <a:ea typeface="Space Grotesk" pitchFamily="34" charset="-122"/>
                <a:cs typeface="Space Grotesk" pitchFamily="34" charset="-120"/>
              </a:rPr>
              <a:t>0.9× uniform</a:t>
            </a:r>
            <a:r>
              <a:rPr lang="en-US" sz="1300" dirty="0">
                <a:solidFill>
                  <a:srgbClr val="ECE6DB"/>
                </a:solidFill>
                <a:latin typeface="Space Grotesk" pitchFamily="34" charset="0"/>
                <a:ea typeface="Space Grotesk" pitchFamily="34" charset="-122"/>
                <a:cs typeface="Space Grotesk" pitchFamily="34" charset="-120"/>
              </a:rPr>
              <a:t>, which is worse than random sampling.</a:t>
            </a:r>
            <a:endParaRPr lang="en-US" sz="1300" dirty="0"/>
          </a:p>
        </p:txBody>
      </p:sp>
      <p:sp>
        <p:nvSpPr>
          <p:cNvPr id="8" name="Text 5"/>
          <p:cNvSpPr/>
          <p:nvPr/>
        </p:nvSpPr>
        <p:spPr>
          <a:xfrm>
            <a:off x="3886074" y="4137192"/>
            <a:ext cx="7717897" cy="48747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CE6DB"/>
                </a:solidFill>
                <a:latin typeface="Space Grotesk" pitchFamily="34" charset="0"/>
                <a:ea typeface="Space Grotesk" pitchFamily="34" charset="-122"/>
                <a:cs typeface="Space Grotesk" pitchFamily="34" charset="-120"/>
              </a:rPr>
              <a:t>Simulated annealing reaches the exact optimum at every size tested. QAOA never beats it. </a:t>
            </a:r>
            <a:r>
              <a:rPr lang="en-US" sz="1300" dirty="0">
                <a:solidFill>
                  <a:srgbClr val="938D83"/>
                </a:solidFill>
                <a:latin typeface="Space Grotesk" pitchFamily="34" charset="0"/>
                <a:ea typeface="Space Grotesk" pitchFamily="34" charset="-122"/>
                <a:cs typeface="Space Grotesk" pitchFamily="34" charset="-120"/>
              </a:rPr>
              <a:t>No advantage is claimed anywhere in this project.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214"/>
        </a:solidFill>
      </p:bgPr>
    </p:bg>
    <p:spTree>
      <p:nvGrpSpPr>
        <p:cNvPr id="1" name=""/>
        <p:cNvGrpSpPr/>
        <p:nvPr/>
      </p:nvGrpSpPr>
      <p:grpSpPr>
        <a:xfrm>
          <a:off x="0" y="0"/>
          <a:ext cx="0" cy="0"/>
          <a:chOff x="0" y="0"/>
          <a:chExt cx="0" cy="0"/>
        </a:xfrm>
      </p:grpSpPr>
      <p:sp>
        <p:nvSpPr>
          <p:cNvPr id="2" name="Text 0"/>
          <p:cNvSpPr/>
          <p:nvPr/>
        </p:nvSpPr>
        <p:spPr>
          <a:xfrm>
            <a:off x="812750" y="1149610"/>
            <a:ext cx="5755596" cy="238702"/>
          </a:xfrm>
          <a:prstGeom prst="rect">
            <a:avLst/>
          </a:prstGeom>
          <a:noFill/>
          <a:ln/>
        </p:spPr>
        <p:txBody>
          <a:bodyPr wrap="square" lIns="0" tIns="0" rIns="0" bIns="0" rtlCol="0" anchor="t">
            <a:normAutofit/>
          </a:bodyPr>
          <a:lstStyle/>
          <a:p>
            <a:pPr algn="l" indent="0" marL="0">
              <a:lnSpc>
                <a:spcPts val="1680"/>
              </a:lnSpc>
              <a:buNone/>
            </a:pPr>
            <a:r>
              <a:rPr lang="en-US" sz="1200" spc="120" kern="0" dirty="0">
                <a:solidFill>
                  <a:srgbClr val="E3A23C"/>
                </a:solidFill>
                <a:latin typeface="JetBrains Mono" pitchFamily="49" charset="0"/>
                <a:ea typeface="JetBrains Mono" pitchFamily="49" charset="-122"/>
                <a:cs typeface="JetBrains Mono" pitchFamily="49" charset="-120"/>
              </a:rPr>
              <a:t>RESULT 3</a:t>
            </a:r>
            <a:endParaRPr lang="en-US" sz="1200" dirty="0"/>
          </a:p>
        </p:txBody>
      </p:sp>
      <p:sp>
        <p:nvSpPr>
          <p:cNvPr id="3" name="Text 1"/>
          <p:cNvSpPr/>
          <p:nvPr>
            <p:ph type="title"/>
          </p:nvPr>
        </p:nvSpPr>
        <p:spPr>
          <a:xfrm>
            <a:off x="812750" y="1527981"/>
            <a:ext cx="5755596" cy="745463"/>
          </a:xfrm>
          <a:prstGeom prst="rect">
            <a:avLst/>
          </a:prstGeom>
          <a:noFill/>
          <a:ln/>
        </p:spPr>
        <p:txBody>
          <a:bodyPr wrap="square" lIns="0" tIns="0" rIns="0" bIns="0" rtlCol="0" anchor="t">
            <a:normAutofit/>
          </a:bodyPr>
          <a:lstStyle/>
          <a:p>
            <a:pPr algn="l" indent="0" marL="0">
              <a:lnSpc>
                <a:spcPts val="2835"/>
              </a:lnSpc>
              <a:buNone/>
            </a:pPr>
            <a:r>
              <a:rPr lang="en-US" sz="2700" b="1" i="0" spc="-95" kern="0" dirty="0">
                <a:solidFill>
                  <a:srgbClr val="ECE6DB"/>
                </a:solidFill>
                <a:latin typeface="Space Grotesk" pitchFamily="34" charset="0"/>
                <a:ea typeface="Space Grotesk" pitchFamily="34" charset="-122"/>
                <a:cs typeface="Space Grotesk" pitchFamily="34" charset="-120"/>
              </a:rPr>
              <a:t>Noise, and what is</a:t>
            </a:r>
            <a:endParaRPr lang="en-US" sz="2700" dirty="0"/>
          </a:p>
          <a:p>
            <a:pPr algn="l" indent="0" marL="0">
              <a:lnSpc>
                <a:spcPts val="2835"/>
              </a:lnSpc>
              <a:buNone/>
            </a:pPr>
            <a:r>
              <a:rPr lang="en-US" sz="2700" b="1" i="0" spc="-95" kern="0" dirty="0">
                <a:solidFill>
                  <a:srgbClr val="ECE6DB"/>
                </a:solidFill>
                <a:latin typeface="Space Grotesk" pitchFamily="34" charset="0"/>
                <a:ea typeface="Space Grotesk" pitchFamily="34" charset="-122"/>
                <a:cs typeface="Space Grotesk" pitchFamily="34" charset="-120"/>
              </a:rPr>
              <a:t>done about it</a:t>
            </a:r>
            <a:endParaRPr lang="en-US" sz="27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411" y="2422773"/>
          <a:ext cx="5578296" cy="2422097"/>
        </p:xfrm>
        <a:graphic>
          <a:graphicData uri="http://schemas.openxmlformats.org/drawingml/2006/table">
            <a:tbl>
              <a:tblPr/>
              <a:tblGrid>
                <a:gridCol w="2566016"/>
                <a:gridCol w="1506140"/>
                <a:gridCol w="1506140"/>
              </a:tblGrid>
              <a:tr h="484419">
                <a:tc>
                  <a:txBody>
                    <a:bodyPr/>
                    <a:lstStyle/>
                    <a:p>
                      <a:pPr indent="0" marL="0">
                        <a:lnSpc>
                          <a:spcPts val="2240"/>
                        </a:lnSpc>
                        <a:buNone/>
                      </a:pPr>
                      <a:r>
                        <a:rPr lang="en-US" sz="1600" dirty="0">
                          <a:solidFill>
                            <a:srgbClr val="857F75"/>
                          </a:solidFill>
                          <a:latin typeface="Space Grotesk" pitchFamily="34" charset="0"/>
                          <a:ea typeface="Space Grotesk" pitchFamily="34" charset="-122"/>
                          <a:cs typeface="Space Grotesk" pitchFamily="34" charset="-120"/>
                        </a:rPr>
                        <a:t>noise model</a:t>
                      </a:r>
                      <a:endParaRPr lang="en-US" sz="1600" dirty="0">
                        <a:latin typeface="Space Grotesk" charset="0"/>
                        <a:ea typeface="Space Grotesk" charset="0"/>
                        <a:cs typeface="Space Grotesk" charset="0"/>
                      </a:endParaRPr>
                    </a:p>
                  </a:txBody>
                  <a:tcPr marL="0" marR="0" marT="95250" marB="95250" anchor="t">
                    <a:lnL w="12700" cap="flat" cmpd="sng" algn="ctr">
                      <a:solidFill>
                        <a:srgbClr val="454546"/>
                      </a:solidFill>
                      <a:prstDash val="solid"/>
                      <a:round/>
                      <a:headEnd type="none" w="med" len="med"/>
                      <a:tailEnd type="none" w="med" len="med"/>
                    </a:lnL>
                    <a:lnR w="12700" cap="flat" cmpd="sng" algn="ctr">
                      <a:solidFill>
                        <a:srgbClr val="545354"/>
                      </a:solidFill>
                      <a:prstDash val="solid"/>
                      <a:round/>
                      <a:headEnd type="none" w="med" len="med"/>
                      <a:tailEnd type="none" w="med" len="med"/>
                    </a:lnR>
                    <a:lnT w="12700" cap="flat" cmpd="sng" algn="ctr">
                      <a:solidFill>
                        <a:srgbClr val="454546"/>
                      </a:solidFill>
                      <a:prstDash val="solid"/>
                      <a:round/>
                      <a:headEnd type="none" w="med" len="med"/>
                      <a:tailEnd type="none" w="med" len="med"/>
                    </a:lnT>
                    <a:lnB w="12700" cap="flat" cmpd="sng" algn="ctr">
                      <a:solidFill>
                        <a:srgbClr val="545354"/>
                      </a:solidFill>
                      <a:prstDash val="solid"/>
                      <a:round/>
                      <a:headEnd type="none" w="med" len="med"/>
                      <a:tailEnd type="none" w="med" len="med"/>
                    </a:lnB>
                    <a:solidFill>
                      <a:srgbClr val="252426"/>
                    </a:solidFill>
                  </a:tcPr>
                </a:tc>
                <a:tc>
                  <a:txBody>
                    <a:bodyPr/>
                    <a:lstStyle/>
                    <a:p>
                      <a:pPr indent="0" marL="0">
                        <a:lnSpc>
                          <a:spcPts val="2240"/>
                        </a:lnSpc>
                        <a:buNone/>
                      </a:pPr>
                      <a:r>
                        <a:rPr lang="en-US" sz="1600" dirty="0">
                          <a:solidFill>
                            <a:srgbClr val="857F75"/>
                          </a:solidFill>
                          <a:latin typeface="Space Grotesk" pitchFamily="34" charset="0"/>
                          <a:ea typeface="Space Grotesk" pitchFamily="34" charset="-122"/>
                          <a:cs typeface="Space Grotesk" pitchFamily="34" charset="-120"/>
                        </a:rPr>
                        <a:t>success</a:t>
                      </a:r>
                      <a:endParaRPr lang="en-US" sz="1600" dirty="0">
                        <a:latin typeface="Space Grotesk" charset="0"/>
                        <a:ea typeface="Space Grotesk" charset="0"/>
                        <a:cs typeface="Space Grotesk" charset="0"/>
                      </a:endParaRPr>
                    </a:p>
                  </a:txBody>
                  <a:tcPr marL="0" marR="0" marT="95250" marB="95250" anchor="t">
                    <a:lnL w="12700" cap="flat" cmpd="sng" algn="ctr">
                      <a:solidFill>
                        <a:srgbClr val="545354"/>
                      </a:solidFill>
                      <a:prstDash val="solid"/>
                      <a:round/>
                      <a:headEnd type="none" w="med" len="med"/>
                      <a:tailEnd type="none" w="med" len="med"/>
                    </a:lnL>
                    <a:lnR w="12700" cap="flat" cmpd="sng" algn="ctr">
                      <a:solidFill>
                        <a:srgbClr val="545354"/>
                      </a:solidFill>
                      <a:prstDash val="solid"/>
                      <a:round/>
                      <a:headEnd type="none" w="med" len="med"/>
                      <a:tailEnd type="none" w="med" len="med"/>
                    </a:lnR>
                    <a:lnT w="12700" cap="flat" cmpd="sng" algn="ctr">
                      <a:solidFill>
                        <a:srgbClr val="454546"/>
                      </a:solidFill>
                      <a:prstDash val="solid"/>
                      <a:round/>
                      <a:headEnd type="none" w="med" len="med"/>
                      <a:tailEnd type="none" w="med" len="med"/>
                    </a:lnT>
                    <a:lnB w="12700" cap="flat" cmpd="sng" algn="ctr">
                      <a:solidFill>
                        <a:srgbClr val="545354"/>
                      </a:solidFill>
                      <a:prstDash val="solid"/>
                      <a:round/>
                      <a:headEnd type="none" w="med" len="med"/>
                      <a:tailEnd type="none" w="med" len="med"/>
                    </a:lnB>
                    <a:solidFill>
                      <a:srgbClr val="252426"/>
                    </a:solidFill>
                  </a:tcPr>
                </a:tc>
                <a:tc>
                  <a:txBody>
                    <a:bodyPr/>
                    <a:lstStyle/>
                    <a:p>
                      <a:pPr indent="0" marL="0">
                        <a:lnSpc>
                          <a:spcPts val="2240"/>
                        </a:lnSpc>
                        <a:buNone/>
                      </a:pPr>
                      <a:r>
                        <a:rPr lang="en-US" sz="1600" dirty="0">
                          <a:solidFill>
                            <a:srgbClr val="857F75"/>
                          </a:solidFill>
                          <a:latin typeface="Space Grotesk" pitchFamily="34" charset="0"/>
                          <a:ea typeface="Space Grotesk" pitchFamily="34" charset="-122"/>
                          <a:cs typeface="Space Grotesk" pitchFamily="34" charset="-120"/>
                        </a:rPr>
                        <a:t>feasible</a:t>
                      </a:r>
                      <a:endParaRPr lang="en-US" sz="1600" dirty="0">
                        <a:latin typeface="Space Grotesk" charset="0"/>
                        <a:ea typeface="Space Grotesk" charset="0"/>
                        <a:cs typeface="Space Grotesk" charset="0"/>
                      </a:endParaRPr>
                    </a:p>
                  </a:txBody>
                  <a:tcPr marL="0" marR="0" marT="95250" marB="95250" anchor="t">
                    <a:lnL w="12700" cap="flat" cmpd="sng" algn="ctr">
                      <a:solidFill>
                        <a:srgbClr val="545354"/>
                      </a:solidFill>
                      <a:prstDash val="solid"/>
                      <a:round/>
                      <a:headEnd type="none" w="med" len="med"/>
                      <a:tailEnd type="none" w="med" len="med"/>
                    </a:lnL>
                    <a:lnR w="12700" cap="flat" cmpd="sng" algn="ctr">
                      <a:solidFill>
                        <a:srgbClr val="545354"/>
                      </a:solidFill>
                      <a:prstDash val="solid"/>
                      <a:round/>
                      <a:headEnd type="none" w="med" len="med"/>
                      <a:tailEnd type="none" w="med" len="med"/>
                    </a:lnR>
                    <a:lnT w="12700" cap="flat" cmpd="sng" algn="ctr">
                      <a:solidFill>
                        <a:srgbClr val="454546"/>
                      </a:solidFill>
                      <a:prstDash val="solid"/>
                      <a:round/>
                      <a:headEnd type="none" w="med" len="med"/>
                      <a:tailEnd type="none" w="med" len="med"/>
                    </a:lnT>
                    <a:lnB w="12700" cap="flat" cmpd="sng" algn="ctr">
                      <a:solidFill>
                        <a:srgbClr val="545354"/>
                      </a:solidFill>
                      <a:prstDash val="solid"/>
                      <a:round/>
                      <a:headEnd type="none" w="med" len="med"/>
                      <a:tailEnd type="none" w="med" len="med"/>
                    </a:lnB>
                    <a:solidFill>
                      <a:srgbClr val="252426"/>
                    </a:solidFill>
                  </a:tcPr>
                </a:tc>
              </a:tr>
              <a:tr h="484419">
                <a:tc>
                  <a:txBody>
                    <a:bodyPr/>
                    <a:lstStyle/>
                    <a:p>
                      <a:pPr indent="0" marL="0">
                        <a:lnSpc>
                          <a:spcPts val="2240"/>
                        </a:lnSpc>
                        <a:buNone/>
                      </a:pPr>
                      <a:r>
                        <a:rPr lang="en-US" sz="1600" dirty="0">
                          <a:solidFill>
                            <a:srgbClr val="938D83"/>
                          </a:solidFill>
                          <a:latin typeface="Space Grotesk" pitchFamily="34" charset="0"/>
                          <a:ea typeface="Space Grotesk" pitchFamily="34" charset="-122"/>
                          <a:cs typeface="Space Grotesk" pitchFamily="34" charset="-120"/>
                        </a:rPr>
                        <a:t>noiseless</a:t>
                      </a:r>
                      <a:endParaRPr lang="en-US" sz="1600" dirty="0">
                        <a:latin typeface="Space Grotesk" charset="0"/>
                        <a:ea typeface="Space Grotesk" charset="0"/>
                        <a:cs typeface="Space Grotesk" charset="0"/>
                      </a:endParaRPr>
                    </a:p>
                  </a:txBody>
                  <a:tcPr marL="0" marR="0" marT="95250" marB="95250" anchor="t">
                    <a:lnL w="12700" cap="flat" cmpd="sng" algn="ctr">
                      <a:solidFill>
                        <a:srgbClr val="454546"/>
                      </a:solidFill>
                      <a:prstDash val="solid"/>
                      <a:round/>
                      <a:headEnd type="none" w="med" len="med"/>
                      <a:tailEnd type="none" w="med" len="med"/>
                    </a:lnL>
                    <a:lnR w="12700" cap="flat" cmpd="sng" algn="ctr">
                      <a:solidFill>
                        <a:srgbClr val="454546"/>
                      </a:solidFill>
                      <a:prstDash val="solid"/>
                      <a:round/>
                      <a:headEnd type="none" w="med" len="med"/>
                      <a:tailEnd type="none" w="med" len="med"/>
                    </a:lnR>
                    <a:lnT w="12700" cap="flat" cmpd="sng" algn="ctr">
                      <a:solidFill>
                        <a:srgbClr val="545354"/>
                      </a:solidFill>
                      <a:prstDash val="solid"/>
                      <a:round/>
                      <a:headEnd type="none" w="med" len="med"/>
                      <a:tailEnd type="none" w="med" len="med"/>
                    </a:lnT>
                    <a:lnB w="12700" cap="flat" cmpd="sng" algn="ctr">
                      <a:solidFill>
                        <a:srgbClr val="454546"/>
                      </a:solidFill>
                      <a:prstDash val="solid"/>
                      <a:round/>
                      <a:headEnd type="none" w="med" len="med"/>
                      <a:tailEnd type="none" w="med" len="med"/>
                    </a:lnB>
                  </a:tcPr>
                </a:tc>
                <a:tc>
                  <a:txBody>
                    <a:bodyPr/>
                    <a:lstStyle/>
                    <a:p>
                      <a:pPr indent="0" marL="0">
                        <a:lnSpc>
                          <a:spcPts val="2240"/>
                        </a:lnSpc>
                        <a:buNone/>
                      </a:pPr>
                      <a:r>
                        <a:rPr lang="en-US" sz="1600" dirty="0">
                          <a:solidFill>
                            <a:srgbClr val="ECE6DB"/>
                          </a:solidFill>
                          <a:latin typeface="Space Grotesk" pitchFamily="34" charset="0"/>
                          <a:ea typeface="Space Grotesk" pitchFamily="34" charset="-122"/>
                          <a:cs typeface="Space Grotesk" pitchFamily="34" charset="-120"/>
                        </a:rPr>
                        <a:t>0.00525</a:t>
                      </a:r>
                      <a:endParaRPr lang="en-US" sz="1600" dirty="0">
                        <a:latin typeface="Space Grotesk" charset="0"/>
                        <a:ea typeface="Space Grotesk" charset="0"/>
                        <a:cs typeface="Space Grotesk" charset="0"/>
                      </a:endParaRPr>
                    </a:p>
                  </a:txBody>
                  <a:tcPr marL="0" marR="0" marT="95250" marB="95250" anchor="t">
                    <a:lnL w="12700" cap="flat" cmpd="sng" algn="ctr">
                      <a:solidFill>
                        <a:srgbClr val="454546"/>
                      </a:solidFill>
                      <a:prstDash val="solid"/>
                      <a:round/>
                      <a:headEnd type="none" w="med" len="med"/>
                      <a:tailEnd type="none" w="med" len="med"/>
                    </a:lnL>
                    <a:lnR w="12700" cap="flat" cmpd="sng" algn="ctr">
                      <a:solidFill>
                        <a:srgbClr val="454546"/>
                      </a:solidFill>
                      <a:prstDash val="solid"/>
                      <a:round/>
                      <a:headEnd type="none" w="med" len="med"/>
                      <a:tailEnd type="none" w="med" len="med"/>
                    </a:lnR>
                    <a:lnT w="12700" cap="flat" cmpd="sng" algn="ctr">
                      <a:solidFill>
                        <a:srgbClr val="545354"/>
                      </a:solidFill>
                      <a:prstDash val="solid"/>
                      <a:round/>
                      <a:headEnd type="none" w="med" len="med"/>
                      <a:tailEnd type="none" w="med" len="med"/>
                    </a:lnT>
                    <a:lnB w="12700" cap="flat" cmpd="sng" algn="ctr">
                      <a:solidFill>
                        <a:srgbClr val="454546"/>
                      </a:solidFill>
                      <a:prstDash val="solid"/>
                      <a:round/>
                      <a:headEnd type="none" w="med" len="med"/>
                      <a:tailEnd type="none" w="med" len="med"/>
                    </a:lnB>
                  </a:tcPr>
                </a:tc>
                <a:tc>
                  <a:txBody>
                    <a:bodyPr/>
                    <a:lstStyle/>
                    <a:p>
                      <a:pPr indent="0" marL="0">
                        <a:lnSpc>
                          <a:spcPts val="2240"/>
                        </a:lnSpc>
                        <a:buNone/>
                      </a:pPr>
                      <a:r>
                        <a:rPr lang="en-US" sz="1600" dirty="0">
                          <a:solidFill>
                            <a:srgbClr val="ECE6DB"/>
                          </a:solidFill>
                          <a:latin typeface="Space Grotesk" pitchFamily="34" charset="0"/>
                          <a:ea typeface="Space Grotesk" pitchFamily="34" charset="-122"/>
                          <a:cs typeface="Space Grotesk" pitchFamily="34" charset="-120"/>
                        </a:rPr>
                        <a:t>0.544</a:t>
                      </a:r>
                      <a:endParaRPr lang="en-US" sz="1600" dirty="0">
                        <a:latin typeface="Space Grotesk" charset="0"/>
                        <a:ea typeface="Space Grotesk" charset="0"/>
                        <a:cs typeface="Space Grotesk" charset="0"/>
                      </a:endParaRPr>
                    </a:p>
                  </a:txBody>
                  <a:tcPr marL="0" marR="0" marT="95250" marB="95250" anchor="t">
                    <a:lnL w="12700" cap="flat" cmpd="sng" algn="ctr">
                      <a:solidFill>
                        <a:srgbClr val="454546"/>
                      </a:solidFill>
                      <a:prstDash val="solid"/>
                      <a:round/>
                      <a:headEnd type="none" w="med" len="med"/>
                      <a:tailEnd type="none" w="med" len="med"/>
                    </a:lnL>
                    <a:lnR w="12700" cap="flat" cmpd="sng" algn="ctr">
                      <a:solidFill>
                        <a:srgbClr val="454546"/>
                      </a:solidFill>
                      <a:prstDash val="solid"/>
                      <a:round/>
                      <a:headEnd type="none" w="med" len="med"/>
                      <a:tailEnd type="none" w="med" len="med"/>
                    </a:lnR>
                    <a:lnT w="12700" cap="flat" cmpd="sng" algn="ctr">
                      <a:solidFill>
                        <a:srgbClr val="545354"/>
                      </a:solidFill>
                      <a:prstDash val="solid"/>
                      <a:round/>
                      <a:headEnd type="none" w="med" len="med"/>
                      <a:tailEnd type="none" w="med" len="med"/>
                    </a:lnT>
                    <a:lnB w="12700" cap="flat" cmpd="sng" algn="ctr">
                      <a:solidFill>
                        <a:srgbClr val="454546"/>
                      </a:solidFill>
                      <a:prstDash val="solid"/>
                      <a:round/>
                      <a:headEnd type="none" w="med" len="med"/>
                      <a:tailEnd type="none" w="med" len="med"/>
                    </a:lnB>
                  </a:tcPr>
                </a:tc>
              </a:tr>
              <a:tr h="484419">
                <a:tc>
                  <a:txBody>
                    <a:bodyPr/>
                    <a:lstStyle/>
                    <a:p>
                      <a:pPr indent="0" marL="0">
                        <a:lnSpc>
                          <a:spcPts val="2240"/>
                        </a:lnSpc>
                        <a:buNone/>
                      </a:pPr>
                      <a:r>
                        <a:rPr lang="en-US" sz="1600" dirty="0">
                          <a:solidFill>
                            <a:srgbClr val="938D83"/>
                          </a:solidFill>
                          <a:latin typeface="Space Grotesk" pitchFamily="34" charset="0"/>
                          <a:ea typeface="Space Grotesk" pitchFamily="34" charset="-122"/>
                          <a:cs typeface="Space Grotesk" pitchFamily="34" charset="-120"/>
                        </a:rPr>
                        <a:t>low, 1e−3</a:t>
                      </a:r>
                      <a:endParaRPr lang="en-US" sz="1600" dirty="0">
                        <a:latin typeface="Space Grotesk" charset="0"/>
                        <a:ea typeface="Space Grotesk" charset="0"/>
                        <a:cs typeface="Space Grotesk" charset="0"/>
                      </a:endParaRPr>
                    </a:p>
                  </a:txBody>
                  <a:tcPr marL="0" marR="0" marT="95250" marB="95250" anchor="t">
                    <a:lnL w="12700" cap="flat" cmpd="sng" algn="ctr">
                      <a:solidFill>
                        <a:srgbClr val="454546"/>
                      </a:solidFill>
                      <a:prstDash val="solid"/>
                      <a:round/>
                      <a:headEnd type="none" w="med" len="med"/>
                      <a:tailEnd type="none" w="med" len="med"/>
                    </a:lnL>
                    <a:lnR w="12700" cap="flat" cmpd="sng" algn="ctr">
                      <a:solidFill>
                        <a:srgbClr val="454546"/>
                      </a:solidFill>
                      <a:prstDash val="solid"/>
                      <a:round/>
                      <a:headEnd type="none" w="med" len="med"/>
                      <a:tailEnd type="none" w="med" len="med"/>
                    </a:lnR>
                    <a:lnT w="12700" cap="flat" cmpd="sng" algn="ctr">
                      <a:solidFill>
                        <a:srgbClr val="454546"/>
                      </a:solidFill>
                      <a:prstDash val="solid"/>
                      <a:round/>
                      <a:headEnd type="none" w="med" len="med"/>
                      <a:tailEnd type="none" w="med" len="med"/>
                    </a:lnT>
                    <a:lnB w="12700" cap="flat" cmpd="sng" algn="ctr">
                      <a:solidFill>
                        <a:srgbClr val="454546"/>
                      </a:solidFill>
                      <a:prstDash val="solid"/>
                      <a:round/>
                      <a:headEnd type="none" w="med" len="med"/>
                      <a:tailEnd type="none" w="med" len="med"/>
                    </a:lnB>
                  </a:tcPr>
                </a:tc>
                <a:tc>
                  <a:txBody>
                    <a:bodyPr/>
                    <a:lstStyle/>
                    <a:p>
                      <a:pPr indent="0" marL="0">
                        <a:lnSpc>
                          <a:spcPts val="2240"/>
                        </a:lnSpc>
                        <a:buNone/>
                      </a:pPr>
                      <a:r>
                        <a:rPr lang="en-US" sz="1600" dirty="0">
                          <a:solidFill>
                            <a:srgbClr val="ECE6DB"/>
                          </a:solidFill>
                          <a:latin typeface="Space Grotesk" pitchFamily="34" charset="0"/>
                          <a:ea typeface="Space Grotesk" pitchFamily="34" charset="-122"/>
                          <a:cs typeface="Space Grotesk" pitchFamily="34" charset="-120"/>
                        </a:rPr>
                        <a:t>0.00281</a:t>
                      </a:r>
                      <a:endParaRPr lang="en-US" sz="1600" dirty="0">
                        <a:latin typeface="Space Grotesk" charset="0"/>
                        <a:ea typeface="Space Grotesk" charset="0"/>
                        <a:cs typeface="Space Grotesk" charset="0"/>
                      </a:endParaRPr>
                    </a:p>
                  </a:txBody>
                  <a:tcPr marL="0" marR="0" marT="95250" marB="95250" anchor="t">
                    <a:lnL w="12700" cap="flat" cmpd="sng" algn="ctr">
                      <a:solidFill>
                        <a:srgbClr val="454546"/>
                      </a:solidFill>
                      <a:prstDash val="solid"/>
                      <a:round/>
                      <a:headEnd type="none" w="med" len="med"/>
                      <a:tailEnd type="none" w="med" len="med"/>
                    </a:lnL>
                    <a:lnR w="12700" cap="flat" cmpd="sng" algn="ctr">
                      <a:solidFill>
                        <a:srgbClr val="454546"/>
                      </a:solidFill>
                      <a:prstDash val="solid"/>
                      <a:round/>
                      <a:headEnd type="none" w="med" len="med"/>
                      <a:tailEnd type="none" w="med" len="med"/>
                    </a:lnR>
                    <a:lnT w="12700" cap="flat" cmpd="sng" algn="ctr">
                      <a:solidFill>
                        <a:srgbClr val="454546"/>
                      </a:solidFill>
                      <a:prstDash val="solid"/>
                      <a:round/>
                      <a:headEnd type="none" w="med" len="med"/>
                      <a:tailEnd type="none" w="med" len="med"/>
                    </a:lnT>
                    <a:lnB w="12700" cap="flat" cmpd="sng" algn="ctr">
                      <a:solidFill>
                        <a:srgbClr val="454546"/>
                      </a:solidFill>
                      <a:prstDash val="solid"/>
                      <a:round/>
                      <a:headEnd type="none" w="med" len="med"/>
                      <a:tailEnd type="none" w="med" len="med"/>
                    </a:lnB>
                  </a:tcPr>
                </a:tc>
                <a:tc>
                  <a:txBody>
                    <a:bodyPr/>
                    <a:lstStyle/>
                    <a:p>
                      <a:pPr indent="0" marL="0">
                        <a:lnSpc>
                          <a:spcPts val="2240"/>
                        </a:lnSpc>
                        <a:buNone/>
                      </a:pPr>
                      <a:r>
                        <a:rPr lang="en-US" sz="1600" dirty="0">
                          <a:solidFill>
                            <a:srgbClr val="ECE6DB"/>
                          </a:solidFill>
                          <a:latin typeface="Space Grotesk" pitchFamily="34" charset="0"/>
                          <a:ea typeface="Space Grotesk" pitchFamily="34" charset="-122"/>
                          <a:cs typeface="Space Grotesk" pitchFamily="34" charset="-120"/>
                        </a:rPr>
                        <a:t>0.442</a:t>
                      </a:r>
                      <a:endParaRPr lang="en-US" sz="1600" dirty="0">
                        <a:latin typeface="Space Grotesk" charset="0"/>
                        <a:ea typeface="Space Grotesk" charset="0"/>
                        <a:cs typeface="Space Grotesk" charset="0"/>
                      </a:endParaRPr>
                    </a:p>
                  </a:txBody>
                  <a:tcPr marL="0" marR="0" marT="95250" marB="95250" anchor="t">
                    <a:lnL w="12700" cap="flat" cmpd="sng" algn="ctr">
                      <a:solidFill>
                        <a:srgbClr val="454546"/>
                      </a:solidFill>
                      <a:prstDash val="solid"/>
                      <a:round/>
                      <a:headEnd type="none" w="med" len="med"/>
                      <a:tailEnd type="none" w="med" len="med"/>
                    </a:lnL>
                    <a:lnR w="12700" cap="flat" cmpd="sng" algn="ctr">
                      <a:solidFill>
                        <a:srgbClr val="454546"/>
                      </a:solidFill>
                      <a:prstDash val="solid"/>
                      <a:round/>
                      <a:headEnd type="none" w="med" len="med"/>
                      <a:tailEnd type="none" w="med" len="med"/>
                    </a:lnR>
                    <a:lnT w="12700" cap="flat" cmpd="sng" algn="ctr">
                      <a:solidFill>
                        <a:srgbClr val="454546"/>
                      </a:solidFill>
                      <a:prstDash val="solid"/>
                      <a:round/>
                      <a:headEnd type="none" w="med" len="med"/>
                      <a:tailEnd type="none" w="med" len="med"/>
                    </a:lnT>
                    <a:lnB w="12700" cap="flat" cmpd="sng" algn="ctr">
                      <a:solidFill>
                        <a:srgbClr val="454546"/>
                      </a:solidFill>
                      <a:prstDash val="solid"/>
                      <a:round/>
                      <a:headEnd type="none" w="med" len="med"/>
                      <a:tailEnd type="none" w="med" len="med"/>
                    </a:lnB>
                  </a:tcPr>
                </a:tc>
              </a:tr>
              <a:tr h="484419">
                <a:tc>
                  <a:txBody>
                    <a:bodyPr/>
                    <a:lstStyle/>
                    <a:p>
                      <a:pPr indent="0" marL="0">
                        <a:lnSpc>
                          <a:spcPts val="2240"/>
                        </a:lnSpc>
                        <a:buNone/>
                      </a:pPr>
                      <a:r>
                        <a:rPr lang="en-US" sz="1600" dirty="0">
                          <a:solidFill>
                            <a:srgbClr val="E3A23C"/>
                          </a:solidFill>
                          <a:latin typeface="Space Grotesk" pitchFamily="34" charset="0"/>
                          <a:ea typeface="Space Grotesk" pitchFamily="34" charset="-122"/>
                          <a:cs typeface="Space Grotesk" pitchFamily="34" charset="-120"/>
                        </a:rPr>
                        <a:t>representative, 1e−2</a:t>
                      </a:r>
                      <a:endParaRPr lang="en-US" sz="1600" dirty="0">
                        <a:latin typeface="Space Grotesk" charset="0"/>
                        <a:ea typeface="Space Grotesk" charset="0"/>
                        <a:cs typeface="Space Grotesk" charset="0"/>
                      </a:endParaRPr>
                    </a:p>
                  </a:txBody>
                  <a:tcPr marL="0" marR="0" marT="95250" marB="95250" anchor="t">
                    <a:lnL w="12700" cap="flat" cmpd="sng" algn="ctr">
                      <a:solidFill>
                        <a:srgbClr val="454546"/>
                      </a:solidFill>
                      <a:prstDash val="solid"/>
                      <a:round/>
                      <a:headEnd type="none" w="med" len="med"/>
                      <a:tailEnd type="none" w="med" len="med"/>
                    </a:lnL>
                    <a:lnR w="12700" cap="flat" cmpd="sng" algn="ctr">
                      <a:solidFill>
                        <a:srgbClr val="454546"/>
                      </a:solidFill>
                      <a:prstDash val="solid"/>
                      <a:round/>
                      <a:headEnd type="none" w="med" len="med"/>
                      <a:tailEnd type="none" w="med" len="med"/>
                    </a:lnR>
                    <a:lnT w="12700" cap="flat" cmpd="sng" algn="ctr">
                      <a:solidFill>
                        <a:srgbClr val="454546"/>
                      </a:solidFill>
                      <a:prstDash val="solid"/>
                      <a:round/>
                      <a:headEnd type="none" w="med" len="med"/>
                      <a:tailEnd type="none" w="med" len="med"/>
                    </a:lnT>
                    <a:lnB w="12700" cap="flat" cmpd="sng" algn="ctr">
                      <a:solidFill>
                        <a:srgbClr val="454546"/>
                      </a:solidFill>
                      <a:prstDash val="solid"/>
                      <a:round/>
                      <a:headEnd type="none" w="med" len="med"/>
                      <a:tailEnd type="none" w="med" len="med"/>
                    </a:lnB>
                  </a:tcPr>
                </a:tc>
                <a:tc>
                  <a:txBody>
                    <a:bodyPr/>
                    <a:lstStyle/>
                    <a:p>
                      <a:pPr indent="0" marL="0">
                        <a:lnSpc>
                          <a:spcPts val="2240"/>
                        </a:lnSpc>
                        <a:buNone/>
                      </a:pPr>
                      <a:r>
                        <a:rPr lang="en-US" sz="1600" dirty="0">
                          <a:solidFill>
                            <a:srgbClr val="E3A23C"/>
                          </a:solidFill>
                          <a:latin typeface="Space Grotesk" pitchFamily="34" charset="0"/>
                          <a:ea typeface="Space Grotesk" pitchFamily="34" charset="-122"/>
                          <a:cs typeface="Space Grotesk" pitchFamily="34" charset="-120"/>
                        </a:rPr>
                        <a:t>0.00085</a:t>
                      </a:r>
                      <a:endParaRPr lang="en-US" sz="1600" dirty="0">
                        <a:latin typeface="Space Grotesk" charset="0"/>
                        <a:ea typeface="Space Grotesk" charset="0"/>
                        <a:cs typeface="Space Grotesk" charset="0"/>
                      </a:endParaRPr>
                    </a:p>
                  </a:txBody>
                  <a:tcPr marL="0" marR="0" marT="95250" marB="95250" anchor="t">
                    <a:lnL w="12700" cap="flat" cmpd="sng" algn="ctr">
                      <a:solidFill>
                        <a:srgbClr val="454546"/>
                      </a:solidFill>
                      <a:prstDash val="solid"/>
                      <a:round/>
                      <a:headEnd type="none" w="med" len="med"/>
                      <a:tailEnd type="none" w="med" len="med"/>
                    </a:lnL>
                    <a:lnR w="12700" cap="flat" cmpd="sng" algn="ctr">
                      <a:solidFill>
                        <a:srgbClr val="454546"/>
                      </a:solidFill>
                      <a:prstDash val="solid"/>
                      <a:round/>
                      <a:headEnd type="none" w="med" len="med"/>
                      <a:tailEnd type="none" w="med" len="med"/>
                    </a:lnR>
                    <a:lnT w="12700" cap="flat" cmpd="sng" algn="ctr">
                      <a:solidFill>
                        <a:srgbClr val="454546"/>
                      </a:solidFill>
                      <a:prstDash val="solid"/>
                      <a:round/>
                      <a:headEnd type="none" w="med" len="med"/>
                      <a:tailEnd type="none" w="med" len="med"/>
                    </a:lnT>
                    <a:lnB w="12700" cap="flat" cmpd="sng" algn="ctr">
                      <a:solidFill>
                        <a:srgbClr val="454546"/>
                      </a:solidFill>
                      <a:prstDash val="solid"/>
                      <a:round/>
                      <a:headEnd type="none" w="med" len="med"/>
                      <a:tailEnd type="none" w="med" len="med"/>
                    </a:lnB>
                  </a:tcPr>
                </a:tc>
                <a:tc>
                  <a:txBody>
                    <a:bodyPr/>
                    <a:lstStyle/>
                    <a:p>
                      <a:pPr indent="0" marL="0">
                        <a:lnSpc>
                          <a:spcPts val="2240"/>
                        </a:lnSpc>
                        <a:buNone/>
                      </a:pPr>
                      <a:r>
                        <a:rPr lang="en-US" sz="1600" dirty="0">
                          <a:solidFill>
                            <a:srgbClr val="E3A23C"/>
                          </a:solidFill>
                          <a:latin typeface="Space Grotesk" pitchFamily="34" charset="0"/>
                          <a:ea typeface="Space Grotesk" pitchFamily="34" charset="-122"/>
                          <a:cs typeface="Space Grotesk" pitchFamily="34" charset="-120"/>
                        </a:rPr>
                        <a:t>0.192</a:t>
                      </a:r>
                      <a:endParaRPr lang="en-US" sz="1600" dirty="0">
                        <a:latin typeface="Space Grotesk" charset="0"/>
                        <a:ea typeface="Space Grotesk" charset="0"/>
                        <a:cs typeface="Space Grotesk" charset="0"/>
                      </a:endParaRPr>
                    </a:p>
                  </a:txBody>
                  <a:tcPr marL="0" marR="0" marT="95250" marB="95250" anchor="t">
                    <a:lnL w="12700" cap="flat" cmpd="sng" algn="ctr">
                      <a:solidFill>
                        <a:srgbClr val="454546"/>
                      </a:solidFill>
                      <a:prstDash val="solid"/>
                      <a:round/>
                      <a:headEnd type="none" w="med" len="med"/>
                      <a:tailEnd type="none" w="med" len="med"/>
                    </a:lnL>
                    <a:lnR w="12700" cap="flat" cmpd="sng" algn="ctr">
                      <a:solidFill>
                        <a:srgbClr val="454546"/>
                      </a:solidFill>
                      <a:prstDash val="solid"/>
                      <a:round/>
                      <a:headEnd type="none" w="med" len="med"/>
                      <a:tailEnd type="none" w="med" len="med"/>
                    </a:lnR>
                    <a:lnT w="12700" cap="flat" cmpd="sng" algn="ctr">
                      <a:solidFill>
                        <a:srgbClr val="454546"/>
                      </a:solidFill>
                      <a:prstDash val="solid"/>
                      <a:round/>
                      <a:headEnd type="none" w="med" len="med"/>
                      <a:tailEnd type="none" w="med" len="med"/>
                    </a:lnT>
                    <a:lnB w="12700" cap="flat" cmpd="sng" algn="ctr">
                      <a:solidFill>
                        <a:srgbClr val="454546"/>
                      </a:solidFill>
                      <a:prstDash val="solid"/>
                      <a:round/>
                      <a:headEnd type="none" w="med" len="med"/>
                      <a:tailEnd type="none" w="med" len="med"/>
                    </a:lnB>
                  </a:tcPr>
                </a:tc>
              </a:tr>
              <a:tr h="484419">
                <a:tc>
                  <a:txBody>
                    <a:bodyPr/>
                    <a:lstStyle/>
                    <a:p>
                      <a:pPr indent="0" marL="0">
                        <a:lnSpc>
                          <a:spcPts val="2240"/>
                        </a:lnSpc>
                        <a:buNone/>
                      </a:pPr>
                      <a:r>
                        <a:rPr lang="en-US" sz="1600" dirty="0">
                          <a:solidFill>
                            <a:srgbClr val="938D83"/>
                          </a:solidFill>
                          <a:latin typeface="Space Grotesk" pitchFamily="34" charset="0"/>
                          <a:ea typeface="Space Grotesk" pitchFamily="34" charset="-122"/>
                          <a:cs typeface="Space Grotesk" pitchFamily="34" charset="-120"/>
                        </a:rPr>
                        <a:t>high, 3e−2</a:t>
                      </a:r>
                      <a:endParaRPr lang="en-US" sz="1600" dirty="0">
                        <a:latin typeface="Space Grotesk" charset="0"/>
                        <a:ea typeface="Space Grotesk" charset="0"/>
                        <a:cs typeface="Space Grotesk" charset="0"/>
                      </a:endParaRPr>
                    </a:p>
                  </a:txBody>
                  <a:tcPr marL="0" marR="0" marT="95250" marB="95250" anchor="t">
                    <a:lnL w="12700" cap="flat" cmpd="sng" algn="ctr">
                      <a:solidFill>
                        <a:srgbClr val="454546"/>
                      </a:solidFill>
                      <a:prstDash val="solid"/>
                      <a:round/>
                      <a:headEnd type="none" w="med" len="med"/>
                      <a:tailEnd type="none" w="med" len="med"/>
                    </a:lnL>
                    <a:lnR w="12700" cap="flat" cmpd="sng" algn="ctr">
                      <a:solidFill>
                        <a:srgbClr val="454546"/>
                      </a:solidFill>
                      <a:prstDash val="solid"/>
                      <a:round/>
                      <a:headEnd type="none" w="med" len="med"/>
                      <a:tailEnd type="none" w="med" len="med"/>
                    </a:lnR>
                    <a:lnT w="12700" cap="flat" cmpd="sng" algn="ctr">
                      <a:solidFill>
                        <a:srgbClr val="454546"/>
                      </a:solidFill>
                      <a:prstDash val="solid"/>
                      <a:round/>
                      <a:headEnd type="none" w="med" len="med"/>
                      <a:tailEnd type="none" w="med" len="med"/>
                    </a:lnT>
                    <a:lnB w="12700" cap="flat" cmpd="sng" algn="ctr">
                      <a:solidFill>
                        <a:srgbClr val="454546"/>
                      </a:solidFill>
                      <a:prstDash val="solid"/>
                      <a:round/>
                      <a:headEnd type="none" w="med" len="med"/>
                      <a:tailEnd type="none" w="med" len="med"/>
                    </a:lnB>
                  </a:tcPr>
                </a:tc>
                <a:tc>
                  <a:txBody>
                    <a:bodyPr/>
                    <a:lstStyle/>
                    <a:p>
                      <a:pPr indent="0" marL="0">
                        <a:lnSpc>
                          <a:spcPts val="2240"/>
                        </a:lnSpc>
                        <a:buNone/>
                      </a:pPr>
                      <a:r>
                        <a:rPr lang="en-US" sz="1600" dirty="0">
                          <a:solidFill>
                            <a:srgbClr val="ECE6DB"/>
                          </a:solidFill>
                          <a:latin typeface="Space Grotesk" pitchFamily="34" charset="0"/>
                          <a:ea typeface="Space Grotesk" pitchFamily="34" charset="-122"/>
                          <a:cs typeface="Space Grotesk" pitchFamily="34" charset="-120"/>
                        </a:rPr>
                        <a:t>0.00049</a:t>
                      </a:r>
                      <a:endParaRPr lang="en-US" sz="1600" dirty="0">
                        <a:latin typeface="Space Grotesk" charset="0"/>
                        <a:ea typeface="Space Grotesk" charset="0"/>
                        <a:cs typeface="Space Grotesk" charset="0"/>
                      </a:endParaRPr>
                    </a:p>
                  </a:txBody>
                  <a:tcPr marL="0" marR="0" marT="95250" marB="95250" anchor="t">
                    <a:lnL w="12700" cap="flat" cmpd="sng" algn="ctr">
                      <a:solidFill>
                        <a:srgbClr val="454546"/>
                      </a:solidFill>
                      <a:prstDash val="solid"/>
                      <a:round/>
                      <a:headEnd type="none" w="med" len="med"/>
                      <a:tailEnd type="none" w="med" len="med"/>
                    </a:lnL>
                    <a:lnR w="12700" cap="flat" cmpd="sng" algn="ctr">
                      <a:solidFill>
                        <a:srgbClr val="454546"/>
                      </a:solidFill>
                      <a:prstDash val="solid"/>
                      <a:round/>
                      <a:headEnd type="none" w="med" len="med"/>
                      <a:tailEnd type="none" w="med" len="med"/>
                    </a:lnR>
                    <a:lnT w="12700" cap="flat" cmpd="sng" algn="ctr">
                      <a:solidFill>
                        <a:srgbClr val="454546"/>
                      </a:solidFill>
                      <a:prstDash val="solid"/>
                      <a:round/>
                      <a:headEnd type="none" w="med" len="med"/>
                      <a:tailEnd type="none" w="med" len="med"/>
                    </a:lnT>
                    <a:lnB w="12700" cap="flat" cmpd="sng" algn="ctr">
                      <a:solidFill>
                        <a:srgbClr val="454546"/>
                      </a:solidFill>
                      <a:prstDash val="solid"/>
                      <a:round/>
                      <a:headEnd type="none" w="med" len="med"/>
                      <a:tailEnd type="none" w="med" len="med"/>
                    </a:lnB>
                  </a:tcPr>
                </a:tc>
                <a:tc>
                  <a:txBody>
                    <a:bodyPr/>
                    <a:lstStyle/>
                    <a:p>
                      <a:pPr indent="0" marL="0">
                        <a:lnSpc>
                          <a:spcPts val="2240"/>
                        </a:lnSpc>
                        <a:buNone/>
                      </a:pPr>
                      <a:r>
                        <a:rPr lang="en-US" sz="1600" dirty="0">
                          <a:solidFill>
                            <a:srgbClr val="ECE6DB"/>
                          </a:solidFill>
                          <a:latin typeface="Space Grotesk" pitchFamily="34" charset="0"/>
                          <a:ea typeface="Space Grotesk" pitchFamily="34" charset="-122"/>
                          <a:cs typeface="Space Grotesk" pitchFamily="34" charset="-120"/>
                        </a:rPr>
                        <a:t>0.036</a:t>
                      </a:r>
                      <a:endParaRPr lang="en-US" sz="1600" dirty="0">
                        <a:latin typeface="Space Grotesk" charset="0"/>
                        <a:ea typeface="Space Grotesk" charset="0"/>
                        <a:cs typeface="Space Grotesk" charset="0"/>
                      </a:endParaRPr>
                    </a:p>
                  </a:txBody>
                  <a:tcPr marL="0" marR="0" marT="95250" marB="95250" anchor="t">
                    <a:lnL w="12700" cap="flat" cmpd="sng" algn="ctr">
                      <a:solidFill>
                        <a:srgbClr val="454546"/>
                      </a:solidFill>
                      <a:prstDash val="solid"/>
                      <a:round/>
                      <a:headEnd type="none" w="med" len="med"/>
                      <a:tailEnd type="none" w="med" len="med"/>
                    </a:lnL>
                    <a:lnR w="12700" cap="flat" cmpd="sng" algn="ctr">
                      <a:solidFill>
                        <a:srgbClr val="454546"/>
                      </a:solidFill>
                      <a:prstDash val="solid"/>
                      <a:round/>
                      <a:headEnd type="none" w="med" len="med"/>
                      <a:tailEnd type="none" w="med" len="med"/>
                    </a:lnR>
                    <a:lnT w="12700" cap="flat" cmpd="sng" algn="ctr">
                      <a:solidFill>
                        <a:srgbClr val="454546"/>
                      </a:solidFill>
                      <a:prstDash val="solid"/>
                      <a:round/>
                      <a:headEnd type="none" w="med" len="med"/>
                      <a:tailEnd type="none" w="med" len="med"/>
                    </a:lnT>
                    <a:lnB w="12700" cap="flat" cmpd="sng" algn="ctr">
                      <a:solidFill>
                        <a:srgbClr val="454546"/>
                      </a:solidFill>
                      <a:prstDash val="solid"/>
                      <a:round/>
                      <a:headEnd type="none" w="med" len="med"/>
                      <a:tailEnd type="none" w="med" len="med"/>
                    </a:lnB>
                  </a:tcPr>
                </a:tc>
              </a:tr>
            </a:tbl>
          </a:graphicData>
        </a:graphic>
      </p:graphicFrame>
      <p:sp>
        <p:nvSpPr>
          <p:cNvPr id="5" name="Text 2"/>
          <p:cNvSpPr/>
          <p:nvPr/>
        </p:nvSpPr>
        <p:spPr>
          <a:xfrm>
            <a:off x="812750" y="5009945"/>
            <a:ext cx="5755596" cy="520537"/>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ECE6DB"/>
                </a:solidFill>
                <a:latin typeface="Space Grotesk" pitchFamily="34" charset="0"/>
                <a:ea typeface="Space Grotesk" pitchFamily="34" charset="-122"/>
                <a:cs typeface="Space Grotesk" pitchFamily="34" charset="-120"/>
              </a:rPr>
              <a:t>At representative hardware error rates success falls 6×, and feasible probability goes from 54% to 19%.</a:t>
            </a:r>
            <a:endParaRPr lang="en-US" sz="1300" dirty="0"/>
          </a:p>
        </p:txBody>
      </p:sp>
      <p:sp>
        <p:nvSpPr>
          <p:cNvPr id="6" name="Shape 3"/>
          <p:cNvSpPr/>
          <p:nvPr/>
        </p:nvSpPr>
        <p:spPr>
          <a:xfrm>
            <a:off x="6908676" y="1443298"/>
            <a:ext cx="4470502" cy="0"/>
          </a:xfrm>
          <a:prstGeom prst="line">
            <a:avLst/>
          </a:prstGeom>
          <a:noFill/>
          <a:ln w="6350">
            <a:solidFill>
              <a:srgbClr val="272621"/>
            </a:solidFill>
            <a:prstDash val="solid"/>
          </a:ln>
        </p:spPr>
      </p:sp>
      <p:sp>
        <p:nvSpPr>
          <p:cNvPr id="7" name="Text 4"/>
          <p:cNvSpPr/>
          <p:nvPr/>
        </p:nvSpPr>
        <p:spPr>
          <a:xfrm>
            <a:off x="6908676" y="1597347"/>
            <a:ext cx="4604617" cy="231141"/>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ECE6DB"/>
                </a:solidFill>
                <a:latin typeface="Space Grotesk" pitchFamily="34" charset="0"/>
                <a:ea typeface="Space Grotesk" pitchFamily="34" charset="-122"/>
                <a:cs typeface="Space Grotesk" pitchFamily="34" charset="-120"/>
              </a:rPr>
              <a:t>Readout mitigation</a:t>
            </a:r>
            <a:endParaRPr lang="en-US" sz="1350" dirty="0"/>
          </a:p>
        </p:txBody>
      </p:sp>
      <p:sp>
        <p:nvSpPr>
          <p:cNvPr id="8" name="Text 5"/>
          <p:cNvSpPr/>
          <p:nvPr/>
        </p:nvSpPr>
        <p:spPr>
          <a:xfrm>
            <a:off x="6908676" y="1860234"/>
            <a:ext cx="4604617" cy="939593"/>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38D83"/>
                </a:solidFill>
                <a:latin typeface="Space Grotesk" pitchFamily="34" charset="0"/>
                <a:ea typeface="Space Grotesk" pitchFamily="34" charset="-122"/>
                <a:cs typeface="Space Grotesk" pitchFamily="34" charset="-120"/>
              </a:rPr>
              <a:t>Per-qubit confusion-matrix inversion. A full 2ⁿ×2ⁿ matrix is impossible at 16 to 20 qubits, so the standard tensored model is used. That independence assumption is stated, not hidden.</a:t>
            </a:r>
            <a:endParaRPr lang="en-US" sz="1200" dirty="0"/>
          </a:p>
        </p:txBody>
      </p:sp>
      <p:sp>
        <p:nvSpPr>
          <p:cNvPr id="9" name="Shape 6"/>
          <p:cNvSpPr/>
          <p:nvPr/>
        </p:nvSpPr>
        <p:spPr>
          <a:xfrm>
            <a:off x="6908676" y="2929992"/>
            <a:ext cx="4470502" cy="0"/>
          </a:xfrm>
          <a:prstGeom prst="line">
            <a:avLst/>
          </a:prstGeom>
          <a:noFill/>
          <a:ln w="6350">
            <a:solidFill>
              <a:srgbClr val="272621"/>
            </a:solidFill>
            <a:prstDash val="solid"/>
          </a:ln>
        </p:spPr>
      </p:sp>
      <p:sp>
        <p:nvSpPr>
          <p:cNvPr id="10" name="Text 7"/>
          <p:cNvSpPr/>
          <p:nvPr/>
        </p:nvSpPr>
        <p:spPr>
          <a:xfrm>
            <a:off x="6908676" y="3084041"/>
            <a:ext cx="4604617" cy="231141"/>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ECE6DB"/>
                </a:solidFill>
                <a:latin typeface="Space Grotesk" pitchFamily="34" charset="0"/>
                <a:ea typeface="Space Grotesk" pitchFamily="34" charset="-122"/>
                <a:cs typeface="Space Grotesk" pitchFamily="34" charset="-120"/>
              </a:rPr>
              <a:t>Decoupling and twirling</a:t>
            </a:r>
            <a:endParaRPr lang="en-US" sz="1350" dirty="0"/>
          </a:p>
        </p:txBody>
      </p:sp>
      <p:sp>
        <p:nvSpPr>
          <p:cNvPr id="11" name="Text 8"/>
          <p:cNvSpPr/>
          <p:nvPr/>
        </p:nvSpPr>
        <p:spPr>
          <a:xfrm>
            <a:off x="6908676" y="3346934"/>
            <a:ext cx="4604617" cy="482496"/>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38D83"/>
                </a:solidFill>
                <a:latin typeface="Space Grotesk" pitchFamily="34" charset="0"/>
                <a:ea typeface="Space Grotesk" pitchFamily="34" charset="-122"/>
                <a:cs typeface="Space Grotesk" pitchFamily="34" charset="-120"/>
              </a:rPr>
              <a:t>XY4 sequences plus gate and measurement twirling through Qiskit Runtime options.</a:t>
            </a:r>
            <a:endParaRPr lang="en-US" sz="1200" dirty="0"/>
          </a:p>
        </p:txBody>
      </p:sp>
      <p:sp>
        <p:nvSpPr>
          <p:cNvPr id="12" name="Shape 9"/>
          <p:cNvSpPr/>
          <p:nvPr/>
        </p:nvSpPr>
        <p:spPr>
          <a:xfrm>
            <a:off x="6908676" y="3959591"/>
            <a:ext cx="4470502" cy="0"/>
          </a:xfrm>
          <a:prstGeom prst="line">
            <a:avLst/>
          </a:prstGeom>
          <a:noFill/>
          <a:ln w="6350">
            <a:solidFill>
              <a:srgbClr val="272621"/>
            </a:solidFill>
            <a:prstDash val="solid"/>
          </a:ln>
        </p:spPr>
      </p:sp>
      <p:sp>
        <p:nvSpPr>
          <p:cNvPr id="13" name="Text 10"/>
          <p:cNvSpPr/>
          <p:nvPr/>
        </p:nvSpPr>
        <p:spPr>
          <a:xfrm>
            <a:off x="6908676" y="4113640"/>
            <a:ext cx="4604617" cy="231141"/>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ECE6DB"/>
                </a:solidFill>
                <a:latin typeface="Space Grotesk" pitchFamily="34" charset="0"/>
                <a:ea typeface="Space Grotesk" pitchFamily="34" charset="-122"/>
                <a:cs typeface="Space Grotesk" pitchFamily="34" charset="-120"/>
              </a:rPr>
              <a:t>Validated both ways</a:t>
            </a:r>
            <a:endParaRPr lang="en-US" sz="1350" dirty="0"/>
          </a:p>
        </p:txBody>
      </p:sp>
      <p:sp>
        <p:nvSpPr>
          <p:cNvPr id="14" name="Text 11"/>
          <p:cNvSpPr/>
          <p:nvPr/>
        </p:nvSpPr>
        <p:spPr>
          <a:xfrm>
            <a:off x="6908676" y="4376533"/>
            <a:ext cx="4604617" cy="71104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38D83"/>
                </a:solidFill>
                <a:latin typeface="Space Grotesk" pitchFamily="34" charset="0"/>
                <a:ea typeface="Space Grotesk" pitchFamily="34" charset="-122"/>
                <a:cs typeface="Space Grotesk" pitchFamily="34" charset="-120"/>
              </a:rPr>
              <a:t>Recovers an injected 4% readout error to within 1.2%. On a noiseless backend it finds p01 = p10 = 0.000000, so it applies no spurious correction to clean data.</a:t>
            </a:r>
            <a:endParaRPr lang="en-US" sz="1200" dirty="0"/>
          </a:p>
        </p:txBody>
      </p:sp>
      <p:sp>
        <p:nvSpPr>
          <p:cNvPr id="15" name="Text 12"/>
          <p:cNvSpPr/>
          <p:nvPr/>
        </p:nvSpPr>
        <p:spPr>
          <a:xfrm>
            <a:off x="9804396" y="6238280"/>
            <a:ext cx="1574781" cy="23870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57F75"/>
                </a:solidFill>
                <a:latin typeface="JetBrains Mono" pitchFamily="49" charset="0"/>
                <a:ea typeface="JetBrains Mono" pitchFamily="49" charset="-122"/>
                <a:cs typeface="JetBrains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0C"/>
        </a:solidFill>
      </p:bgPr>
    </p:bg>
    <p:spTree>
      <p:nvGrpSpPr>
        <p:cNvPr id="1" name=""/>
        <p:cNvGrpSpPr/>
        <p:nvPr/>
      </p:nvGrpSpPr>
      <p:grpSpPr>
        <a:xfrm>
          <a:off x="0" y="0"/>
          <a:ext cx="0" cy="0"/>
          <a:chOff x="0" y="0"/>
          <a:chExt cx="0" cy="0"/>
        </a:xfrm>
      </p:grpSpPr>
      <p:sp>
        <p:nvSpPr>
          <p:cNvPr id="2" name="Text 0"/>
          <p:cNvSpPr/>
          <p:nvPr/>
        </p:nvSpPr>
        <p:spPr>
          <a:xfrm>
            <a:off x="812750" y="812750"/>
            <a:ext cx="9156679" cy="238702"/>
          </a:xfrm>
          <a:prstGeom prst="rect">
            <a:avLst/>
          </a:prstGeom>
          <a:noFill/>
          <a:ln/>
        </p:spPr>
        <p:txBody>
          <a:bodyPr wrap="square" lIns="0" tIns="0" rIns="0" bIns="0" rtlCol="0" anchor="t">
            <a:normAutofit/>
          </a:bodyPr>
          <a:lstStyle/>
          <a:p>
            <a:pPr algn="l" indent="0" marL="0">
              <a:lnSpc>
                <a:spcPts val="1680"/>
              </a:lnSpc>
              <a:buNone/>
            </a:pPr>
            <a:r>
              <a:rPr lang="en-US" sz="1200" spc="120" kern="0" dirty="0">
                <a:solidFill>
                  <a:srgbClr val="E3A23C"/>
                </a:solidFill>
                <a:latin typeface="JetBrains Mono" pitchFamily="49" charset="0"/>
                <a:ea typeface="JetBrains Mono" pitchFamily="49" charset="-122"/>
                <a:cs typeface="JetBrains Mono" pitchFamily="49" charset="-120"/>
              </a:rPr>
              <a:t>RESULT 4 / REAL QUANTUM HARDWARE</a:t>
            </a:r>
            <a:endParaRPr lang="en-US" sz="1200" dirty="0"/>
          </a:p>
        </p:txBody>
      </p:sp>
      <p:sp>
        <p:nvSpPr>
          <p:cNvPr id="3" name="Text 1"/>
          <p:cNvSpPr/>
          <p:nvPr/>
        </p:nvSpPr>
        <p:spPr>
          <a:xfrm>
            <a:off x="812750" y="2546338"/>
            <a:ext cx="3991592" cy="1587422"/>
          </a:xfrm>
          <a:prstGeom prst="rect">
            <a:avLst/>
          </a:prstGeom>
          <a:noFill/>
          <a:ln/>
        </p:spPr>
        <p:txBody>
          <a:bodyPr wrap="square" lIns="0" tIns="0" rIns="0" bIns="0" rtlCol="0" anchor="t">
            <a:normAutofit/>
          </a:bodyPr>
          <a:lstStyle/>
          <a:p>
            <a:pPr algn="l" indent="0" marL="0">
              <a:lnSpc>
                <a:spcPts val="12300"/>
              </a:lnSpc>
              <a:buNone/>
            </a:pPr>
            <a:r>
              <a:rPr lang="en-US" sz="15000" b="1" spc="-750" kern="0" dirty="0">
                <a:solidFill>
                  <a:srgbClr val="E3A23C"/>
                </a:solidFill>
                <a:latin typeface="Space Grotesk" pitchFamily="34" charset="0"/>
                <a:ea typeface="Space Grotesk" pitchFamily="34" charset="-122"/>
                <a:cs typeface="Space Grotesk" pitchFamily="34" charset="-120"/>
              </a:rPr>
              <a:t>94%</a:t>
            </a:r>
            <a:endParaRPr lang="en-US" sz="15000" dirty="0"/>
          </a:p>
        </p:txBody>
      </p:sp>
      <p:sp>
        <p:nvSpPr>
          <p:cNvPr id="4" name="Text 2"/>
          <p:cNvSpPr/>
          <p:nvPr/>
        </p:nvSpPr>
        <p:spPr>
          <a:xfrm>
            <a:off x="4804342" y="2574640"/>
            <a:ext cx="6772080" cy="695949"/>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ECE6DB"/>
                </a:solidFill>
                <a:latin typeface="Space Grotesk" pitchFamily="34" charset="0"/>
                <a:ea typeface="Space Grotesk" pitchFamily="34" charset="-122"/>
                <a:cs typeface="Space Grotesk" pitchFamily="34" charset="-120"/>
              </a:rPr>
              <a:t>of ideal-simulation success probability, on a real device. It also sampled the exact optimum.</a:t>
            </a:r>
            <a:endParaRPr lang="en-US" sz="2200" dirty="0"/>
          </a:p>
        </p:txBody>
      </p:sp>
      <p:sp>
        <p:nvSpPr>
          <p:cNvPr id="5" name="Text 3"/>
          <p:cNvSpPr/>
          <p:nvPr/>
        </p:nvSpPr>
        <p:spPr>
          <a:xfrm>
            <a:off x="4804342" y="3384823"/>
            <a:ext cx="6772080" cy="834904"/>
          </a:xfrm>
          <a:prstGeom prst="rect">
            <a:avLst/>
          </a:prstGeom>
          <a:noFill/>
          <a:ln/>
        </p:spPr>
        <p:txBody>
          <a:bodyPr wrap="square" lIns="0" tIns="0" rIns="0" bIns="0" rtlCol="0" anchor="t">
            <a:normAutofit/>
          </a:bodyPr>
          <a:lstStyle/>
          <a:p>
            <a:pPr algn="l" indent="0" marL="0">
              <a:lnSpc>
                <a:spcPts val="2125"/>
              </a:lnSpc>
              <a:buNone/>
            </a:pPr>
            <a:r>
              <a:rPr lang="en-US" sz="1250" dirty="0">
                <a:solidFill>
                  <a:srgbClr val="938D83"/>
                </a:solidFill>
                <a:latin typeface="JetBrains Mono" pitchFamily="49" charset="0"/>
                <a:ea typeface="JetBrains Mono" pitchFamily="49" charset="-122"/>
                <a:cs typeface="JetBrains Mono" pitchFamily="49" charset="-120"/>
              </a:rPr>
              <a:t>ibm_fez · IBM Heron r2, 156 qubits</a:t>
            </a:r>
            <a:endParaRPr lang="en-US" sz="1250" dirty="0"/>
          </a:p>
          <a:p>
            <a:pPr algn="l" indent="0" marL="0">
              <a:lnSpc>
                <a:spcPts val="2125"/>
              </a:lnSpc>
              <a:buNone/>
            </a:pPr>
            <a:r>
              <a:rPr lang="en-US" sz="1250" dirty="0">
                <a:solidFill>
                  <a:srgbClr val="938D83"/>
                </a:solidFill>
                <a:latin typeface="JetBrains Mono" pitchFamily="49" charset="0"/>
                <a:ea typeface="JetBrains Mono" pitchFamily="49" charset="-122"/>
                <a:cs typeface="JetBrains Mono" pitchFamily="49" charset="-120"/>
              </a:rPr>
              <a:t>job db16cahb694s73drs9vg · 8 qubits · 4096 shots</a:t>
            </a:r>
            <a:endParaRPr lang="en-US" sz="1250" dirty="0"/>
          </a:p>
          <a:p>
            <a:pPr algn="l" indent="0" marL="0">
              <a:lnSpc>
                <a:spcPts val="2125"/>
              </a:lnSpc>
              <a:buNone/>
            </a:pPr>
            <a:r>
              <a:rPr lang="en-US" sz="1250" dirty="0">
                <a:solidFill>
                  <a:srgbClr val="938D83"/>
                </a:solidFill>
                <a:latin typeface="JetBrains Mono" pitchFamily="49" charset="0"/>
                <a:ea typeface="JetBrains Mono" pitchFamily="49" charset="-122"/>
                <a:cs typeface="JetBrains Mono" pitchFamily="49" charset="-120"/>
              </a:rPr>
              <a:t>success 0.00781 · 2.0× uniform · E* found</a:t>
            </a:r>
            <a:endParaRPr lang="en-US" sz="1250" dirty="0"/>
          </a:p>
        </p:txBody>
      </p:sp>
      <p:sp>
        <p:nvSpPr>
          <p:cNvPr id="6" name="Text 4"/>
          <p:cNvSpPr/>
          <p:nvPr/>
        </p:nvSpPr>
        <p:spPr>
          <a:xfrm>
            <a:off x="812750" y="5668119"/>
            <a:ext cx="10883342" cy="50408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938D83"/>
                </a:solidFill>
                <a:latin typeface="Space Grotesk" pitchFamily="34" charset="0"/>
                <a:ea typeface="Space Grotesk" pitchFamily="34" charset="-122"/>
                <a:cs typeface="Space Grotesk" pitchFamily="34" charset="-120"/>
              </a:rPr>
              <a:t>Parameters were optimised on the simulator. Hardware sampled the final circuit only, in one job. At 87 two-qubit gates the circuit is short enough that real structure survives, which is exactly why the run was sized small instead of using the headline config.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214"/>
        </a:solidFill>
      </p:bgPr>
    </p:bg>
    <p:spTree>
      <p:nvGrpSpPr>
        <p:cNvPr id="1" name=""/>
        <p:cNvGrpSpPr/>
        <p:nvPr/>
      </p:nvGrpSpPr>
      <p:grpSpPr>
        <a:xfrm>
          <a:off x="0" y="0"/>
          <a:ext cx="0" cy="0"/>
          <a:chOff x="0" y="0"/>
          <a:chExt cx="0" cy="0"/>
        </a:xfrm>
      </p:grpSpPr>
      <p:sp>
        <p:nvSpPr>
          <p:cNvPr id="2" name="Text 0"/>
          <p:cNvSpPr/>
          <p:nvPr/>
        </p:nvSpPr>
        <p:spPr>
          <a:xfrm>
            <a:off x="812750" y="812750"/>
            <a:ext cx="10883421" cy="238702"/>
          </a:xfrm>
          <a:prstGeom prst="rect">
            <a:avLst/>
          </a:prstGeom>
          <a:noFill/>
          <a:ln/>
        </p:spPr>
        <p:txBody>
          <a:bodyPr wrap="square" lIns="0" tIns="0" rIns="0" bIns="0" rtlCol="0" anchor="t">
            <a:normAutofit/>
          </a:bodyPr>
          <a:lstStyle/>
          <a:p>
            <a:pPr algn="l" indent="0" marL="0">
              <a:lnSpc>
                <a:spcPts val="1680"/>
              </a:lnSpc>
              <a:buNone/>
            </a:pPr>
            <a:r>
              <a:rPr lang="en-US" sz="1200" spc="120" kern="0" dirty="0">
                <a:solidFill>
                  <a:srgbClr val="E3A23C"/>
                </a:solidFill>
                <a:latin typeface="JetBrains Mono" pitchFamily="49" charset="0"/>
                <a:ea typeface="JetBrains Mono" pitchFamily="49" charset="-122"/>
                <a:cs typeface="JetBrains Mono" pitchFamily="49" charset="-120"/>
              </a:rPr>
              <a:t>WHAT THE DEVICE COST US</a:t>
            </a:r>
            <a:endParaRPr lang="en-US" sz="1200" dirty="0"/>
          </a:p>
        </p:txBody>
      </p:sp>
      <p:sp>
        <p:nvSpPr>
          <p:cNvPr id="3" name="Text 1"/>
          <p:cNvSpPr/>
          <p:nvPr>
            <p:ph type="title"/>
          </p:nvPr>
        </p:nvSpPr>
        <p:spPr>
          <a:xfrm>
            <a:off x="812750" y="1254602"/>
            <a:ext cx="10883421" cy="385431"/>
          </a:xfrm>
          <a:prstGeom prst="rect">
            <a:avLst/>
          </a:prstGeom>
          <a:noFill/>
          <a:ln/>
        </p:spPr>
        <p:txBody>
          <a:bodyPr wrap="square" lIns="0" tIns="0" rIns="0" bIns="0" rtlCol="0" anchor="t">
            <a:normAutofit/>
          </a:bodyPr>
          <a:lstStyle/>
          <a:p>
            <a:pPr algn="l" indent="0" marL="0">
              <a:lnSpc>
                <a:spcPts val="2835"/>
              </a:lnSpc>
              <a:buNone/>
            </a:pPr>
            <a:r>
              <a:rPr lang="en-US" sz="2700" b="1" i="0" spc="-95" kern="0" dirty="0">
                <a:solidFill>
                  <a:srgbClr val="ECE6DB"/>
                </a:solidFill>
                <a:latin typeface="Space Grotesk" pitchFamily="34" charset="0"/>
                <a:ea typeface="Space Grotesk" pitchFamily="34" charset="-122"/>
                <a:cs typeface="Space Grotesk" pitchFamily="34" charset="-120"/>
              </a:rPr>
              <a:t>Routing overhead, and mitigation on the metal</a:t>
            </a:r>
            <a:endParaRPr lang="en-US" sz="2700" dirty="0"/>
          </a:p>
        </p:txBody>
      </p:sp>
      <p:sp>
        <p:nvSpPr>
          <p:cNvPr id="4" name="Text 2"/>
          <p:cNvSpPr/>
          <p:nvPr/>
        </p:nvSpPr>
        <p:spPr>
          <a:xfrm>
            <a:off x="812750" y="2359751"/>
            <a:ext cx="1962146" cy="723876"/>
          </a:xfrm>
          <a:prstGeom prst="rect">
            <a:avLst/>
          </a:prstGeom>
          <a:noFill/>
          <a:ln/>
        </p:spPr>
        <p:txBody>
          <a:bodyPr wrap="square" lIns="0" tIns="0" rIns="0" bIns="0" rtlCol="0" anchor="t">
            <a:normAutofit/>
          </a:bodyPr>
          <a:lstStyle/>
          <a:p>
            <a:pPr algn="l" indent="0" marL="0">
              <a:lnSpc>
                <a:spcPts val="5500"/>
              </a:lnSpc>
              <a:buNone/>
            </a:pPr>
            <a:r>
              <a:rPr lang="en-US" sz="5500" b="1" dirty="0">
                <a:solidFill>
                  <a:srgbClr val="938D83"/>
                </a:solidFill>
                <a:latin typeface="JetBrains Mono" pitchFamily="49" charset="0"/>
                <a:ea typeface="JetBrains Mono" pitchFamily="49" charset="-122"/>
                <a:cs typeface="JetBrains Mono" pitchFamily="49" charset="-120"/>
              </a:rPr>
              <a:t>28</a:t>
            </a:r>
            <a:endParaRPr lang="en-US" sz="5500" dirty="0"/>
          </a:p>
        </p:txBody>
      </p:sp>
      <p:sp>
        <p:nvSpPr>
          <p:cNvPr id="5" name="Text 3"/>
          <p:cNvSpPr/>
          <p:nvPr/>
        </p:nvSpPr>
        <p:spPr>
          <a:xfrm>
            <a:off x="812750" y="3109026"/>
            <a:ext cx="1962146" cy="23869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57F75"/>
                </a:solidFill>
                <a:latin typeface="Space Grotesk" pitchFamily="34" charset="0"/>
                <a:ea typeface="Space Grotesk" pitchFamily="34" charset="-122"/>
                <a:cs typeface="Space Grotesk" pitchFamily="34" charset="-120"/>
              </a:rPr>
              <a:t>logical 2q gates</a:t>
            </a:r>
            <a:endParaRPr lang="en-US" sz="1200" dirty="0"/>
          </a:p>
        </p:txBody>
      </p:sp>
      <p:pic>
        <p:nvPicPr>
          <p:cNvPr id="6" name="Image 0" descr="arrow-right">    </p:cNvPr>
          <p:cNvPicPr>
            <a:picLocks noChangeAspect="1"/>
          </p:cNvPicPr>
          <p:nvPr/>
        </p:nvPicPr>
        <p:blipFill>
          <a:blip r:embed="rId1"/>
          <a:srcRect l="-17" r="-17" t="0" b="0"/>
          <a:stretch/>
        </p:blipFill>
        <p:spPr>
          <a:xfrm>
            <a:off x="2971730" y="3131896"/>
            <a:ext cx="444491" cy="190432"/>
          </a:xfrm>
          <a:prstGeom prst="rect">
            <a:avLst/>
          </a:prstGeom>
        </p:spPr>
      </p:pic>
      <p:sp>
        <p:nvSpPr>
          <p:cNvPr id="7" name="Text 4"/>
          <p:cNvSpPr/>
          <p:nvPr/>
        </p:nvSpPr>
        <p:spPr>
          <a:xfrm>
            <a:off x="3670206" y="2359751"/>
            <a:ext cx="1962146" cy="723876"/>
          </a:xfrm>
          <a:prstGeom prst="rect">
            <a:avLst/>
          </a:prstGeom>
          <a:noFill/>
          <a:ln/>
        </p:spPr>
        <p:txBody>
          <a:bodyPr wrap="square" lIns="0" tIns="0" rIns="0" bIns="0" rtlCol="0" anchor="t">
            <a:normAutofit/>
          </a:bodyPr>
          <a:lstStyle/>
          <a:p>
            <a:pPr algn="l" indent="0" marL="0">
              <a:lnSpc>
                <a:spcPts val="5500"/>
              </a:lnSpc>
              <a:buNone/>
            </a:pPr>
            <a:r>
              <a:rPr lang="en-US" sz="5500" b="1" dirty="0">
                <a:solidFill>
                  <a:srgbClr val="ECE6DB"/>
                </a:solidFill>
                <a:latin typeface="JetBrains Mono" pitchFamily="49" charset="0"/>
                <a:ea typeface="JetBrains Mono" pitchFamily="49" charset="-122"/>
                <a:cs typeface="JetBrains Mono" pitchFamily="49" charset="-120"/>
              </a:rPr>
              <a:t>56</a:t>
            </a:r>
            <a:endParaRPr lang="en-US" sz="5500" dirty="0"/>
          </a:p>
        </p:txBody>
      </p:sp>
      <p:sp>
        <p:nvSpPr>
          <p:cNvPr id="8" name="Text 5"/>
          <p:cNvSpPr/>
          <p:nvPr/>
        </p:nvSpPr>
        <p:spPr>
          <a:xfrm>
            <a:off x="3670206" y="3109026"/>
            <a:ext cx="1962146" cy="23869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57F75"/>
                </a:solidFill>
                <a:latin typeface="Space Grotesk" pitchFamily="34" charset="0"/>
                <a:ea typeface="Space Grotesk" pitchFamily="34" charset="-122"/>
                <a:cs typeface="Space Grotesk" pitchFamily="34" charset="-120"/>
              </a:rPr>
              <a:t>abstract all-to-all</a:t>
            </a:r>
            <a:endParaRPr lang="en-US" sz="1200" dirty="0"/>
          </a:p>
        </p:txBody>
      </p:sp>
      <p:pic>
        <p:nvPicPr>
          <p:cNvPr id="9" name="Image 1" descr="arrow-right">    </p:cNvPr>
          <p:cNvPicPr>
            <a:picLocks noChangeAspect="1"/>
          </p:cNvPicPr>
          <p:nvPr/>
        </p:nvPicPr>
        <p:blipFill>
          <a:blip r:embed="rId2"/>
          <a:srcRect l="-17" r="-17" t="0" b="0"/>
          <a:stretch/>
        </p:blipFill>
        <p:spPr>
          <a:xfrm>
            <a:off x="5829186" y="3131896"/>
            <a:ext cx="444491" cy="190432"/>
          </a:xfrm>
          <a:prstGeom prst="rect">
            <a:avLst/>
          </a:prstGeom>
        </p:spPr>
      </p:pic>
      <p:sp>
        <p:nvSpPr>
          <p:cNvPr id="10" name="Text 6"/>
          <p:cNvSpPr/>
          <p:nvPr/>
        </p:nvSpPr>
        <p:spPr>
          <a:xfrm>
            <a:off x="6527661" y="2359751"/>
            <a:ext cx="1962146" cy="723876"/>
          </a:xfrm>
          <a:prstGeom prst="rect">
            <a:avLst/>
          </a:prstGeom>
          <a:noFill/>
          <a:ln/>
        </p:spPr>
        <p:txBody>
          <a:bodyPr wrap="square" lIns="0" tIns="0" rIns="0" bIns="0" rtlCol="0" anchor="t">
            <a:normAutofit/>
          </a:bodyPr>
          <a:lstStyle/>
          <a:p>
            <a:pPr algn="l" indent="0" marL="0">
              <a:lnSpc>
                <a:spcPts val="5500"/>
              </a:lnSpc>
              <a:buNone/>
            </a:pPr>
            <a:r>
              <a:rPr lang="en-US" sz="5500" b="1" dirty="0">
                <a:solidFill>
                  <a:srgbClr val="E3A23C"/>
                </a:solidFill>
                <a:latin typeface="JetBrains Mono" pitchFamily="49" charset="0"/>
                <a:ea typeface="JetBrains Mono" pitchFamily="49" charset="-122"/>
                <a:cs typeface="JetBrains Mono" pitchFamily="49" charset="-120"/>
              </a:rPr>
              <a:t>87</a:t>
            </a:r>
            <a:endParaRPr lang="en-US" sz="5500" dirty="0"/>
          </a:p>
        </p:txBody>
      </p:sp>
      <p:sp>
        <p:nvSpPr>
          <p:cNvPr id="11" name="Text 7"/>
          <p:cNvSpPr/>
          <p:nvPr/>
        </p:nvSpPr>
        <p:spPr>
          <a:xfrm>
            <a:off x="6527661" y="3109026"/>
            <a:ext cx="1962146" cy="23869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57F75"/>
                </a:solidFill>
                <a:latin typeface="Space Grotesk" pitchFamily="34" charset="0"/>
                <a:ea typeface="Space Grotesk" pitchFamily="34" charset="-122"/>
                <a:cs typeface="Space Grotesk" pitchFamily="34" charset="-120"/>
              </a:rPr>
              <a:t>on ibm_fez connectivity</a:t>
            </a:r>
            <a:endParaRPr lang="en-US" sz="1200" dirty="0"/>
          </a:p>
        </p:txBody>
      </p:sp>
      <p:sp>
        <p:nvSpPr>
          <p:cNvPr id="12" name="Text 8"/>
          <p:cNvSpPr/>
          <p:nvPr/>
        </p:nvSpPr>
        <p:spPr>
          <a:xfrm>
            <a:off x="8686642" y="1893974"/>
            <a:ext cx="2773312" cy="1453751"/>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938D83"/>
                </a:solidFill>
                <a:latin typeface="Space Grotesk" pitchFamily="34" charset="0"/>
                <a:ea typeface="Space Grotesk" pitchFamily="34" charset="-122"/>
                <a:cs typeface="Space Grotesk" pitchFamily="34" charset="-120"/>
              </a:rPr>
              <a:t>A 55% increase, all of it routing. This is the concrete reason the project reports logical and transpiled metrics separately instead of quoting logical depth alone.</a:t>
            </a:r>
            <a:endParaRPr lang="en-US" sz="1250" dirty="0"/>
          </a:p>
        </p:txBody>
      </p:sp>
      <p:sp>
        <p:nvSpPr>
          <p:cNvPr id="13" name="Shape 9"/>
          <p:cNvSpPr/>
          <p:nvPr/>
        </p:nvSpPr>
        <p:spPr>
          <a:xfrm>
            <a:off x="812750" y="3617528"/>
            <a:ext cx="10566428" cy="0"/>
          </a:xfrm>
          <a:prstGeom prst="line">
            <a:avLst/>
          </a:prstGeom>
          <a:noFill/>
          <a:ln w="6350">
            <a:solidFill>
              <a:srgbClr val="272621"/>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22411" y="3819277"/>
          <a:ext cx="4562283" cy="1377176"/>
        </p:xfrm>
        <a:graphic>
          <a:graphicData uri="http://schemas.openxmlformats.org/drawingml/2006/table">
            <a:tbl>
              <a:tblPr/>
              <a:tblGrid>
                <a:gridCol w="1824913"/>
                <a:gridCol w="1368685"/>
                <a:gridCol w="1368685"/>
              </a:tblGrid>
              <a:tr h="459059">
                <a:tc>
                  <a:txBody>
                    <a:bodyPr/>
                    <a:lstStyle/>
                    <a:p>
                      <a:pPr indent="0" marL="0">
                        <a:lnSpc>
                          <a:spcPts val="2240"/>
                        </a:lnSpc>
                        <a:buNone/>
                      </a:pPr>
                      <a:r>
                        <a:rPr lang="en-US" sz="1600" dirty="0">
                          <a:solidFill>
                            <a:srgbClr val="857F75"/>
                          </a:solidFill>
                          <a:latin typeface="Space Grotesk" pitchFamily="34" charset="0"/>
                          <a:ea typeface="Space Grotesk" pitchFamily="34" charset="-122"/>
                          <a:cs typeface="Space Grotesk" pitchFamily="34" charset="-120"/>
                        </a:rPr>
                        <a:t>on device</a:t>
                      </a:r>
                      <a:endParaRPr lang="en-US" sz="1600" dirty="0">
                        <a:latin typeface="Space Grotesk" charset="0"/>
                        <a:ea typeface="Space Grotesk" charset="0"/>
                        <a:cs typeface="Space Grotesk" charset="0"/>
                      </a:endParaRPr>
                    </a:p>
                  </a:txBody>
                  <a:tcPr marL="0" marR="0" marT="82550" marB="82550" anchor="t">
                    <a:lnL w="12700" cap="flat" cmpd="sng" algn="ctr">
                      <a:solidFill>
                        <a:srgbClr val="454546"/>
                      </a:solidFill>
                      <a:prstDash val="solid"/>
                      <a:round/>
                      <a:headEnd type="none" w="med" len="med"/>
                      <a:tailEnd type="none" w="med" len="med"/>
                    </a:lnL>
                    <a:lnR w="12700" cap="flat" cmpd="sng" algn="ctr">
                      <a:solidFill>
                        <a:srgbClr val="545354"/>
                      </a:solidFill>
                      <a:prstDash val="solid"/>
                      <a:round/>
                      <a:headEnd type="none" w="med" len="med"/>
                      <a:tailEnd type="none" w="med" len="med"/>
                    </a:lnR>
                    <a:lnT w="12700" cap="flat" cmpd="sng" algn="ctr">
                      <a:solidFill>
                        <a:srgbClr val="454546"/>
                      </a:solidFill>
                      <a:prstDash val="solid"/>
                      <a:round/>
                      <a:headEnd type="none" w="med" len="med"/>
                      <a:tailEnd type="none" w="med" len="med"/>
                    </a:lnT>
                    <a:lnB w="12700" cap="flat" cmpd="sng" algn="ctr">
                      <a:solidFill>
                        <a:srgbClr val="545354"/>
                      </a:solidFill>
                      <a:prstDash val="solid"/>
                      <a:round/>
                      <a:headEnd type="none" w="med" len="med"/>
                      <a:tailEnd type="none" w="med" len="med"/>
                    </a:lnB>
                    <a:solidFill>
                      <a:srgbClr val="252426"/>
                    </a:solidFill>
                  </a:tcPr>
                </a:tc>
                <a:tc>
                  <a:txBody>
                    <a:bodyPr/>
                    <a:lstStyle/>
                    <a:p>
                      <a:pPr indent="0" marL="0">
                        <a:lnSpc>
                          <a:spcPts val="2240"/>
                        </a:lnSpc>
                        <a:buNone/>
                      </a:pPr>
                      <a:r>
                        <a:rPr lang="en-US" sz="1600" dirty="0">
                          <a:solidFill>
                            <a:srgbClr val="857F75"/>
                          </a:solidFill>
                          <a:latin typeface="Space Grotesk" pitchFamily="34" charset="0"/>
                          <a:ea typeface="Space Grotesk" pitchFamily="34" charset="-122"/>
                          <a:cs typeface="Space Grotesk" pitchFamily="34" charset="-120"/>
                        </a:rPr>
                        <a:t>raw</a:t>
                      </a:r>
                      <a:endParaRPr lang="en-US" sz="1600" dirty="0">
                        <a:latin typeface="Space Grotesk" charset="0"/>
                        <a:ea typeface="Space Grotesk" charset="0"/>
                        <a:cs typeface="Space Grotesk" charset="0"/>
                      </a:endParaRPr>
                    </a:p>
                  </a:txBody>
                  <a:tcPr marL="0" marR="0" marT="82550" marB="82550" anchor="t">
                    <a:lnL w="12700" cap="flat" cmpd="sng" algn="ctr">
                      <a:solidFill>
                        <a:srgbClr val="545354"/>
                      </a:solidFill>
                      <a:prstDash val="solid"/>
                      <a:round/>
                      <a:headEnd type="none" w="med" len="med"/>
                      <a:tailEnd type="none" w="med" len="med"/>
                    </a:lnL>
                    <a:lnR w="12700" cap="flat" cmpd="sng" algn="ctr">
                      <a:solidFill>
                        <a:srgbClr val="545354"/>
                      </a:solidFill>
                      <a:prstDash val="solid"/>
                      <a:round/>
                      <a:headEnd type="none" w="med" len="med"/>
                      <a:tailEnd type="none" w="med" len="med"/>
                    </a:lnR>
                    <a:lnT w="12700" cap="flat" cmpd="sng" algn="ctr">
                      <a:solidFill>
                        <a:srgbClr val="454546"/>
                      </a:solidFill>
                      <a:prstDash val="solid"/>
                      <a:round/>
                      <a:headEnd type="none" w="med" len="med"/>
                      <a:tailEnd type="none" w="med" len="med"/>
                    </a:lnT>
                    <a:lnB w="12700" cap="flat" cmpd="sng" algn="ctr">
                      <a:solidFill>
                        <a:srgbClr val="545354"/>
                      </a:solidFill>
                      <a:prstDash val="solid"/>
                      <a:round/>
                      <a:headEnd type="none" w="med" len="med"/>
                      <a:tailEnd type="none" w="med" len="med"/>
                    </a:lnB>
                    <a:solidFill>
                      <a:srgbClr val="252426"/>
                    </a:solidFill>
                  </a:tcPr>
                </a:tc>
                <a:tc>
                  <a:txBody>
                    <a:bodyPr/>
                    <a:lstStyle/>
                    <a:p>
                      <a:pPr indent="0" marL="0">
                        <a:lnSpc>
                          <a:spcPts val="2240"/>
                        </a:lnSpc>
                        <a:buNone/>
                      </a:pPr>
                      <a:r>
                        <a:rPr lang="en-US" sz="1600" dirty="0">
                          <a:solidFill>
                            <a:srgbClr val="E3A23C"/>
                          </a:solidFill>
                          <a:latin typeface="Space Grotesk" pitchFamily="34" charset="0"/>
                          <a:ea typeface="Space Grotesk" pitchFamily="34" charset="-122"/>
                          <a:cs typeface="Space Grotesk" pitchFamily="34" charset="-120"/>
                        </a:rPr>
                        <a:t>mitigated</a:t>
                      </a:r>
                      <a:endParaRPr lang="en-US" sz="1600" dirty="0">
                        <a:latin typeface="Space Grotesk" charset="0"/>
                        <a:ea typeface="Space Grotesk" charset="0"/>
                        <a:cs typeface="Space Grotesk" charset="0"/>
                      </a:endParaRPr>
                    </a:p>
                  </a:txBody>
                  <a:tcPr marL="0" marR="0" marT="82550" marB="82550" anchor="t">
                    <a:lnL w="12700" cap="flat" cmpd="sng" algn="ctr">
                      <a:solidFill>
                        <a:srgbClr val="545354"/>
                      </a:solidFill>
                      <a:prstDash val="solid"/>
                      <a:round/>
                      <a:headEnd type="none" w="med" len="med"/>
                      <a:tailEnd type="none" w="med" len="med"/>
                    </a:lnL>
                    <a:lnR w="12700" cap="flat" cmpd="sng" algn="ctr">
                      <a:solidFill>
                        <a:srgbClr val="545354"/>
                      </a:solidFill>
                      <a:prstDash val="solid"/>
                      <a:round/>
                      <a:headEnd type="none" w="med" len="med"/>
                      <a:tailEnd type="none" w="med" len="med"/>
                    </a:lnR>
                    <a:lnT w="12700" cap="flat" cmpd="sng" algn="ctr">
                      <a:solidFill>
                        <a:srgbClr val="454546"/>
                      </a:solidFill>
                      <a:prstDash val="solid"/>
                      <a:round/>
                      <a:headEnd type="none" w="med" len="med"/>
                      <a:tailEnd type="none" w="med" len="med"/>
                    </a:lnT>
                    <a:lnB w="12700" cap="flat" cmpd="sng" algn="ctr">
                      <a:solidFill>
                        <a:srgbClr val="545354"/>
                      </a:solidFill>
                      <a:prstDash val="solid"/>
                      <a:round/>
                      <a:headEnd type="none" w="med" len="med"/>
                      <a:tailEnd type="none" w="med" len="med"/>
                    </a:lnB>
                    <a:solidFill>
                      <a:srgbClr val="252426"/>
                    </a:solidFill>
                  </a:tcPr>
                </a:tc>
              </a:tr>
              <a:tr h="459059">
                <a:tc>
                  <a:txBody>
                    <a:bodyPr/>
                    <a:lstStyle/>
                    <a:p>
                      <a:pPr indent="0" marL="0">
                        <a:lnSpc>
                          <a:spcPts val="2240"/>
                        </a:lnSpc>
                        <a:buNone/>
                      </a:pPr>
                      <a:r>
                        <a:rPr lang="en-US" sz="1600" dirty="0">
                          <a:solidFill>
                            <a:srgbClr val="938D83"/>
                          </a:solidFill>
                          <a:latin typeface="Space Grotesk" pitchFamily="34" charset="0"/>
                          <a:ea typeface="Space Grotesk" pitchFamily="34" charset="-122"/>
                          <a:cs typeface="Space Grotesk" pitchFamily="34" charset="-120"/>
                        </a:rPr>
                        <a:t>success</a:t>
                      </a:r>
                      <a:endParaRPr lang="en-US" sz="1600" dirty="0">
                        <a:latin typeface="Space Grotesk" charset="0"/>
                        <a:ea typeface="Space Grotesk" charset="0"/>
                        <a:cs typeface="Space Grotesk" charset="0"/>
                      </a:endParaRPr>
                    </a:p>
                  </a:txBody>
                  <a:tcPr marL="0" marR="0" marT="82550" marB="82550" anchor="t">
                    <a:lnL w="12700" cap="flat" cmpd="sng" algn="ctr">
                      <a:solidFill>
                        <a:srgbClr val="454546"/>
                      </a:solidFill>
                      <a:prstDash val="solid"/>
                      <a:round/>
                      <a:headEnd type="none" w="med" len="med"/>
                      <a:tailEnd type="none" w="med" len="med"/>
                    </a:lnL>
                    <a:lnR w="12700" cap="flat" cmpd="sng" algn="ctr">
                      <a:solidFill>
                        <a:srgbClr val="454546"/>
                      </a:solidFill>
                      <a:prstDash val="solid"/>
                      <a:round/>
                      <a:headEnd type="none" w="med" len="med"/>
                      <a:tailEnd type="none" w="med" len="med"/>
                    </a:lnR>
                    <a:lnT w="12700" cap="flat" cmpd="sng" algn="ctr">
                      <a:solidFill>
                        <a:srgbClr val="545354"/>
                      </a:solidFill>
                      <a:prstDash val="solid"/>
                      <a:round/>
                      <a:headEnd type="none" w="med" len="med"/>
                      <a:tailEnd type="none" w="med" len="med"/>
                    </a:lnT>
                    <a:lnB w="12700" cap="flat" cmpd="sng" algn="ctr">
                      <a:solidFill>
                        <a:srgbClr val="454546"/>
                      </a:solidFill>
                      <a:prstDash val="solid"/>
                      <a:round/>
                      <a:headEnd type="none" w="med" len="med"/>
                      <a:tailEnd type="none" w="med" len="med"/>
                    </a:lnB>
                  </a:tcPr>
                </a:tc>
                <a:tc>
                  <a:txBody>
                    <a:bodyPr/>
                    <a:lstStyle/>
                    <a:p>
                      <a:pPr indent="0" marL="0">
                        <a:lnSpc>
                          <a:spcPts val="2240"/>
                        </a:lnSpc>
                        <a:buNone/>
                      </a:pPr>
                      <a:r>
                        <a:rPr lang="en-US" sz="1600" dirty="0">
                          <a:solidFill>
                            <a:srgbClr val="ECE6DB"/>
                          </a:solidFill>
                          <a:latin typeface="Space Grotesk" pitchFamily="34" charset="0"/>
                          <a:ea typeface="Space Grotesk" pitchFamily="34" charset="-122"/>
                          <a:cs typeface="Space Grotesk" pitchFamily="34" charset="-120"/>
                        </a:rPr>
                        <a:t>0.00781</a:t>
                      </a:r>
                      <a:endParaRPr lang="en-US" sz="1600" dirty="0">
                        <a:latin typeface="Space Grotesk" charset="0"/>
                        <a:ea typeface="Space Grotesk" charset="0"/>
                        <a:cs typeface="Space Grotesk" charset="0"/>
                      </a:endParaRPr>
                    </a:p>
                  </a:txBody>
                  <a:tcPr marL="0" marR="0" marT="82550" marB="82550" anchor="t">
                    <a:lnL w="12700" cap="flat" cmpd="sng" algn="ctr">
                      <a:solidFill>
                        <a:srgbClr val="454546"/>
                      </a:solidFill>
                      <a:prstDash val="solid"/>
                      <a:round/>
                      <a:headEnd type="none" w="med" len="med"/>
                      <a:tailEnd type="none" w="med" len="med"/>
                    </a:lnL>
                    <a:lnR w="12700" cap="flat" cmpd="sng" algn="ctr">
                      <a:solidFill>
                        <a:srgbClr val="454546"/>
                      </a:solidFill>
                      <a:prstDash val="solid"/>
                      <a:round/>
                      <a:headEnd type="none" w="med" len="med"/>
                      <a:tailEnd type="none" w="med" len="med"/>
                    </a:lnR>
                    <a:lnT w="12700" cap="flat" cmpd="sng" algn="ctr">
                      <a:solidFill>
                        <a:srgbClr val="545354"/>
                      </a:solidFill>
                      <a:prstDash val="solid"/>
                      <a:round/>
                      <a:headEnd type="none" w="med" len="med"/>
                      <a:tailEnd type="none" w="med" len="med"/>
                    </a:lnT>
                    <a:lnB w="12700" cap="flat" cmpd="sng" algn="ctr">
                      <a:solidFill>
                        <a:srgbClr val="454546"/>
                      </a:solidFill>
                      <a:prstDash val="solid"/>
                      <a:round/>
                      <a:headEnd type="none" w="med" len="med"/>
                      <a:tailEnd type="none" w="med" len="med"/>
                    </a:lnB>
                  </a:tcPr>
                </a:tc>
                <a:tc>
                  <a:txBody>
                    <a:bodyPr/>
                    <a:lstStyle/>
                    <a:p>
                      <a:pPr indent="0" marL="0">
                        <a:lnSpc>
                          <a:spcPts val="2240"/>
                        </a:lnSpc>
                        <a:buNone/>
                      </a:pPr>
                      <a:r>
                        <a:rPr lang="en-US" sz="1600" dirty="0">
                          <a:solidFill>
                            <a:srgbClr val="C7604A"/>
                          </a:solidFill>
                          <a:latin typeface="Space Grotesk" pitchFamily="34" charset="0"/>
                          <a:ea typeface="Space Grotesk" pitchFamily="34" charset="-122"/>
                          <a:cs typeface="Space Grotesk" pitchFamily="34" charset="-120"/>
                        </a:rPr>
                        <a:t>0.00735</a:t>
                      </a:r>
                      <a:endParaRPr lang="en-US" sz="1600" dirty="0">
                        <a:latin typeface="Space Grotesk" charset="0"/>
                        <a:ea typeface="Space Grotesk" charset="0"/>
                        <a:cs typeface="Space Grotesk" charset="0"/>
                      </a:endParaRPr>
                    </a:p>
                  </a:txBody>
                  <a:tcPr marL="0" marR="0" marT="82550" marB="82550" anchor="t">
                    <a:lnL w="12700" cap="flat" cmpd="sng" algn="ctr">
                      <a:solidFill>
                        <a:srgbClr val="454546"/>
                      </a:solidFill>
                      <a:prstDash val="solid"/>
                      <a:round/>
                      <a:headEnd type="none" w="med" len="med"/>
                      <a:tailEnd type="none" w="med" len="med"/>
                    </a:lnL>
                    <a:lnR w="12700" cap="flat" cmpd="sng" algn="ctr">
                      <a:solidFill>
                        <a:srgbClr val="454546"/>
                      </a:solidFill>
                      <a:prstDash val="solid"/>
                      <a:round/>
                      <a:headEnd type="none" w="med" len="med"/>
                      <a:tailEnd type="none" w="med" len="med"/>
                    </a:lnR>
                    <a:lnT w="12700" cap="flat" cmpd="sng" algn="ctr">
                      <a:solidFill>
                        <a:srgbClr val="545354"/>
                      </a:solidFill>
                      <a:prstDash val="solid"/>
                      <a:round/>
                      <a:headEnd type="none" w="med" len="med"/>
                      <a:tailEnd type="none" w="med" len="med"/>
                    </a:lnT>
                    <a:lnB w="12700" cap="flat" cmpd="sng" algn="ctr">
                      <a:solidFill>
                        <a:srgbClr val="454546"/>
                      </a:solidFill>
                      <a:prstDash val="solid"/>
                      <a:round/>
                      <a:headEnd type="none" w="med" len="med"/>
                      <a:tailEnd type="none" w="med" len="med"/>
                    </a:lnB>
                  </a:tcPr>
                </a:tc>
              </a:tr>
              <a:tr h="459059">
                <a:tc>
                  <a:txBody>
                    <a:bodyPr/>
                    <a:lstStyle/>
                    <a:p>
                      <a:pPr indent="0" marL="0">
                        <a:lnSpc>
                          <a:spcPts val="2240"/>
                        </a:lnSpc>
                        <a:buNone/>
                      </a:pPr>
                      <a:r>
                        <a:rPr lang="en-US" sz="1600" dirty="0">
                          <a:solidFill>
                            <a:srgbClr val="938D83"/>
                          </a:solidFill>
                          <a:latin typeface="Space Grotesk" pitchFamily="34" charset="0"/>
                          <a:ea typeface="Space Grotesk" pitchFamily="34" charset="-122"/>
                          <a:cs typeface="Space Grotesk" pitchFamily="34" charset="-120"/>
                        </a:rPr>
                        <a:t>feasible</a:t>
                      </a:r>
                      <a:endParaRPr lang="en-US" sz="1600" dirty="0">
                        <a:latin typeface="Space Grotesk" charset="0"/>
                        <a:ea typeface="Space Grotesk" charset="0"/>
                        <a:cs typeface="Space Grotesk" charset="0"/>
                      </a:endParaRPr>
                    </a:p>
                  </a:txBody>
                  <a:tcPr marL="0" marR="0" marT="82550" marB="82550" anchor="t">
                    <a:lnL w="12700" cap="flat" cmpd="sng" algn="ctr">
                      <a:solidFill>
                        <a:srgbClr val="454546"/>
                      </a:solidFill>
                      <a:prstDash val="solid"/>
                      <a:round/>
                      <a:headEnd type="none" w="med" len="med"/>
                      <a:tailEnd type="none" w="med" len="med"/>
                    </a:lnL>
                    <a:lnR w="12700" cap="flat" cmpd="sng" algn="ctr">
                      <a:solidFill>
                        <a:srgbClr val="454546"/>
                      </a:solidFill>
                      <a:prstDash val="solid"/>
                      <a:round/>
                      <a:headEnd type="none" w="med" len="med"/>
                      <a:tailEnd type="none" w="med" len="med"/>
                    </a:lnR>
                    <a:lnT w="12700" cap="flat" cmpd="sng" algn="ctr">
                      <a:solidFill>
                        <a:srgbClr val="454546"/>
                      </a:solidFill>
                      <a:prstDash val="solid"/>
                      <a:round/>
                      <a:headEnd type="none" w="med" len="med"/>
                      <a:tailEnd type="none" w="med" len="med"/>
                    </a:lnT>
                    <a:lnB w="12700" cap="flat" cmpd="sng" algn="ctr">
                      <a:solidFill>
                        <a:srgbClr val="454546"/>
                      </a:solidFill>
                      <a:prstDash val="solid"/>
                      <a:round/>
                      <a:headEnd type="none" w="med" len="med"/>
                      <a:tailEnd type="none" w="med" len="med"/>
                    </a:lnB>
                  </a:tcPr>
                </a:tc>
                <a:tc>
                  <a:txBody>
                    <a:bodyPr/>
                    <a:lstStyle/>
                    <a:p>
                      <a:pPr indent="0" marL="0">
                        <a:lnSpc>
                          <a:spcPts val="2240"/>
                        </a:lnSpc>
                        <a:buNone/>
                      </a:pPr>
                      <a:r>
                        <a:rPr lang="en-US" sz="1600" dirty="0">
                          <a:solidFill>
                            <a:srgbClr val="ECE6DB"/>
                          </a:solidFill>
                          <a:latin typeface="Space Grotesk" pitchFamily="34" charset="0"/>
                          <a:ea typeface="Space Grotesk" pitchFamily="34" charset="-122"/>
                          <a:cs typeface="Space Grotesk" pitchFamily="34" charset="-120"/>
                        </a:rPr>
                        <a:t>0.2847</a:t>
                      </a:r>
                      <a:endParaRPr lang="en-US" sz="1600" dirty="0">
                        <a:latin typeface="Space Grotesk" charset="0"/>
                        <a:ea typeface="Space Grotesk" charset="0"/>
                        <a:cs typeface="Space Grotesk" charset="0"/>
                      </a:endParaRPr>
                    </a:p>
                  </a:txBody>
                  <a:tcPr marL="0" marR="0" marT="82550" marB="82550" anchor="t">
                    <a:lnL w="12700" cap="flat" cmpd="sng" algn="ctr">
                      <a:solidFill>
                        <a:srgbClr val="454546"/>
                      </a:solidFill>
                      <a:prstDash val="solid"/>
                      <a:round/>
                      <a:headEnd type="none" w="med" len="med"/>
                      <a:tailEnd type="none" w="med" len="med"/>
                    </a:lnL>
                    <a:lnR w="12700" cap="flat" cmpd="sng" algn="ctr">
                      <a:solidFill>
                        <a:srgbClr val="454546"/>
                      </a:solidFill>
                      <a:prstDash val="solid"/>
                      <a:round/>
                      <a:headEnd type="none" w="med" len="med"/>
                      <a:tailEnd type="none" w="med" len="med"/>
                    </a:lnR>
                    <a:lnT w="12700" cap="flat" cmpd="sng" algn="ctr">
                      <a:solidFill>
                        <a:srgbClr val="454546"/>
                      </a:solidFill>
                      <a:prstDash val="solid"/>
                      <a:round/>
                      <a:headEnd type="none" w="med" len="med"/>
                      <a:tailEnd type="none" w="med" len="med"/>
                    </a:lnT>
                    <a:lnB w="12700" cap="flat" cmpd="sng" algn="ctr">
                      <a:solidFill>
                        <a:srgbClr val="454546"/>
                      </a:solidFill>
                      <a:prstDash val="solid"/>
                      <a:round/>
                      <a:headEnd type="none" w="med" len="med"/>
                      <a:tailEnd type="none" w="med" len="med"/>
                    </a:lnB>
                  </a:tcPr>
                </a:tc>
                <a:tc>
                  <a:txBody>
                    <a:bodyPr/>
                    <a:lstStyle/>
                    <a:p>
                      <a:pPr indent="0" marL="0">
                        <a:lnSpc>
                          <a:spcPts val="2240"/>
                        </a:lnSpc>
                        <a:buNone/>
                      </a:pPr>
                      <a:r>
                        <a:rPr lang="en-US" sz="1600" dirty="0">
                          <a:solidFill>
                            <a:srgbClr val="E3A23C"/>
                          </a:solidFill>
                          <a:latin typeface="Space Grotesk" pitchFamily="34" charset="0"/>
                          <a:ea typeface="Space Grotesk" pitchFamily="34" charset="-122"/>
                          <a:cs typeface="Space Grotesk" pitchFamily="34" charset="-120"/>
                        </a:rPr>
                        <a:t>0.3213</a:t>
                      </a:r>
                      <a:endParaRPr lang="en-US" sz="1600" dirty="0">
                        <a:latin typeface="Space Grotesk" charset="0"/>
                        <a:ea typeface="Space Grotesk" charset="0"/>
                        <a:cs typeface="Space Grotesk" charset="0"/>
                      </a:endParaRPr>
                    </a:p>
                  </a:txBody>
                  <a:tcPr marL="0" marR="0" marT="82550" marB="82550" anchor="t">
                    <a:lnL w="12700" cap="flat" cmpd="sng" algn="ctr">
                      <a:solidFill>
                        <a:srgbClr val="454546"/>
                      </a:solidFill>
                      <a:prstDash val="solid"/>
                      <a:round/>
                      <a:headEnd type="none" w="med" len="med"/>
                      <a:tailEnd type="none" w="med" len="med"/>
                    </a:lnL>
                    <a:lnR w="12700" cap="flat" cmpd="sng" algn="ctr">
                      <a:solidFill>
                        <a:srgbClr val="454546"/>
                      </a:solidFill>
                      <a:prstDash val="solid"/>
                      <a:round/>
                      <a:headEnd type="none" w="med" len="med"/>
                      <a:tailEnd type="none" w="med" len="med"/>
                    </a:lnR>
                    <a:lnT w="12700" cap="flat" cmpd="sng" algn="ctr">
                      <a:solidFill>
                        <a:srgbClr val="454546"/>
                      </a:solidFill>
                      <a:prstDash val="solid"/>
                      <a:round/>
                      <a:headEnd type="none" w="med" len="med"/>
                      <a:tailEnd type="none" w="med" len="med"/>
                    </a:lnT>
                    <a:lnB w="12700" cap="flat" cmpd="sng" algn="ctr">
                      <a:solidFill>
                        <a:srgbClr val="454546"/>
                      </a:solidFill>
                      <a:prstDash val="solid"/>
                      <a:round/>
                      <a:headEnd type="none" w="med" len="med"/>
                      <a:tailEnd type="none" w="med" len="med"/>
                    </a:lnB>
                  </a:tcPr>
                </a:tc>
              </a:tr>
            </a:tbl>
          </a:graphicData>
        </a:graphic>
      </p:graphicFrame>
      <p:sp>
        <p:nvSpPr>
          <p:cNvPr id="15" name="Text 10"/>
          <p:cNvSpPr/>
          <p:nvPr/>
        </p:nvSpPr>
        <p:spPr>
          <a:xfrm>
            <a:off x="5892663" y="3809616"/>
            <a:ext cx="5651110" cy="1215692"/>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938D83"/>
                </a:solidFill>
                <a:latin typeface="Space Grotesk" pitchFamily="34" charset="0"/>
                <a:ea typeface="Space Grotesk" pitchFamily="34" charset="-122"/>
                <a:cs typeface="Space Grotesk" pitchFamily="34" charset="-120"/>
              </a:rPr>
              <a:t>Measured readout error: p01 = 3.11%, p10 = 3.32%, worst qubit 18.6%. Inversion improved feasible probability by 12.9% while slightly reducing success. Sharpening the broad distribution adds variance to individual low-probability outcomes, and the optimum is exactly such an outcome.</a:t>
            </a:r>
            <a:endParaRPr lang="en-US" sz="1250" dirty="0"/>
          </a:p>
        </p:txBody>
      </p:sp>
      <p:sp>
        <p:nvSpPr>
          <p:cNvPr id="16" name="Text 11"/>
          <p:cNvSpPr/>
          <p:nvPr/>
        </p:nvSpPr>
        <p:spPr>
          <a:xfrm>
            <a:off x="9804396" y="6238280"/>
            <a:ext cx="1574781" cy="23870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57F75"/>
                </a:solidFill>
                <a:latin typeface="JetBrains Mono" pitchFamily="49" charset="0"/>
                <a:ea typeface="JetBrains Mono" pitchFamily="49" charset="-122"/>
                <a:cs typeface="JetBrains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B0C"/>
        </a:solidFill>
      </p:bgPr>
    </p:bg>
    <p:spTree>
      <p:nvGrpSpPr>
        <p:cNvPr id="1" name=""/>
        <p:cNvGrpSpPr/>
        <p:nvPr/>
      </p:nvGrpSpPr>
      <p:grpSpPr>
        <a:xfrm>
          <a:off x="0" y="0"/>
          <a:ext cx="0" cy="0"/>
          <a:chOff x="0" y="0"/>
          <a:chExt cx="0" cy="0"/>
        </a:xfrm>
      </p:grpSpPr>
      <p:sp>
        <p:nvSpPr>
          <p:cNvPr id="2" name="Text 0"/>
          <p:cNvSpPr/>
          <p:nvPr/>
        </p:nvSpPr>
        <p:spPr>
          <a:xfrm>
            <a:off x="812750" y="812750"/>
            <a:ext cx="10883421" cy="238702"/>
          </a:xfrm>
          <a:prstGeom prst="rect">
            <a:avLst/>
          </a:prstGeom>
          <a:noFill/>
          <a:ln/>
        </p:spPr>
        <p:txBody>
          <a:bodyPr wrap="square" lIns="0" tIns="0" rIns="0" bIns="0" rtlCol="0" anchor="t">
            <a:normAutofit/>
          </a:bodyPr>
          <a:lstStyle/>
          <a:p>
            <a:pPr algn="l" indent="0" marL="0">
              <a:lnSpc>
                <a:spcPts val="1680"/>
              </a:lnSpc>
              <a:buNone/>
            </a:pPr>
            <a:r>
              <a:rPr lang="en-US" sz="1200" spc="120" kern="0" dirty="0">
                <a:solidFill>
                  <a:srgbClr val="C7604A"/>
                </a:solidFill>
                <a:latin typeface="JetBrains Mono" pitchFamily="49" charset="0"/>
                <a:ea typeface="JetBrains Mono" pitchFamily="49" charset="-122"/>
                <a:cs typeface="JetBrains Mono" pitchFamily="49" charset="-120"/>
              </a:rPr>
              <a:t>RESULT 5 / THE DEEPEST LIMITATION</a:t>
            </a:r>
            <a:endParaRPr lang="en-US" sz="1200" dirty="0"/>
          </a:p>
        </p:txBody>
      </p:sp>
      <p:sp>
        <p:nvSpPr>
          <p:cNvPr id="3" name="Text 1"/>
          <p:cNvSpPr/>
          <p:nvPr>
            <p:ph type="title"/>
          </p:nvPr>
        </p:nvSpPr>
        <p:spPr>
          <a:xfrm>
            <a:off x="812750" y="1254596"/>
            <a:ext cx="10883421" cy="412151"/>
          </a:xfrm>
          <a:prstGeom prst="rect">
            <a:avLst/>
          </a:prstGeom>
          <a:noFill/>
          <a:ln/>
        </p:spPr>
        <p:txBody>
          <a:bodyPr wrap="square" lIns="0" tIns="0" rIns="0" bIns="0" rtlCol="0" anchor="t">
            <a:normAutofit/>
          </a:bodyPr>
          <a:lstStyle/>
          <a:p>
            <a:pPr algn="l" indent="0" marL="0">
              <a:lnSpc>
                <a:spcPts val="3045"/>
              </a:lnSpc>
              <a:buNone/>
            </a:pPr>
            <a:r>
              <a:rPr lang="en-US" sz="2900" b="1" i="0" spc="-100" kern="0" dirty="0">
                <a:solidFill>
                  <a:srgbClr val="ECE6DB"/>
                </a:solidFill>
                <a:latin typeface="Space Grotesk" pitchFamily="34" charset="0"/>
                <a:ea typeface="Space Grotesk" pitchFamily="34" charset="-122"/>
                <a:cs typeface="Space Grotesk" pitchFamily="34" charset="-120"/>
              </a:rPr>
              <a:t>Stratifying by publication inverts the result</a:t>
            </a:r>
            <a:endParaRPr lang="en-US" sz="2900" dirty="0"/>
          </a:p>
        </p:txBody>
      </p:sp>
      <p:sp>
        <p:nvSpPr>
          <p:cNvPr id="4" name="Shape 2"/>
          <p:cNvSpPr/>
          <p:nvPr/>
        </p:nvSpPr>
        <p:spPr>
          <a:xfrm>
            <a:off x="812750" y="1914289"/>
            <a:ext cx="3301947" cy="0"/>
          </a:xfrm>
          <a:prstGeom prst="line">
            <a:avLst/>
          </a:prstGeom>
          <a:noFill/>
          <a:ln w="12700">
            <a:solidFill>
              <a:srgbClr val="C7604A"/>
            </a:solidFill>
            <a:prstDash val="solid"/>
          </a:ln>
        </p:spPr>
      </p:sp>
      <p:sp>
        <p:nvSpPr>
          <p:cNvPr id="5" name="Text 3"/>
          <p:cNvSpPr/>
          <p:nvPr/>
        </p:nvSpPr>
        <p:spPr>
          <a:xfrm>
            <a:off x="812750" y="2082670"/>
            <a:ext cx="3401006" cy="685835"/>
          </a:xfrm>
          <a:prstGeom prst="rect">
            <a:avLst/>
          </a:prstGeom>
          <a:noFill/>
          <a:ln/>
        </p:spPr>
        <p:txBody>
          <a:bodyPr wrap="square" lIns="0" tIns="0" rIns="0" bIns="0" rtlCol="0" anchor="t">
            <a:normAutofit/>
          </a:bodyPr>
          <a:lstStyle/>
          <a:p>
            <a:pPr algn="l" indent="0" marL="0">
              <a:lnSpc>
                <a:spcPts val="5200"/>
              </a:lnSpc>
              <a:buNone/>
            </a:pPr>
            <a:r>
              <a:rPr lang="en-US" sz="5200" b="1" strike="sngStrike" dirty="0">
                <a:solidFill>
                  <a:srgbClr val="C7604A"/>
                </a:solidFill>
                <a:latin typeface="JetBrains Mono" pitchFamily="49" charset="0"/>
                <a:ea typeface="JetBrains Mono" pitchFamily="49" charset="-122"/>
                <a:cs typeface="JetBrains Mono" pitchFamily="49" charset="-120"/>
              </a:rPr>
              <a:t>49.8%</a:t>
            </a:r>
            <a:endParaRPr lang="en-US" sz="5200" dirty="0"/>
          </a:p>
        </p:txBody>
      </p:sp>
      <p:sp>
        <p:nvSpPr>
          <p:cNvPr id="6" name="Text 4"/>
          <p:cNvSpPr/>
          <p:nvPr/>
        </p:nvSpPr>
        <p:spPr>
          <a:xfrm>
            <a:off x="812750" y="2832007"/>
            <a:ext cx="3401006" cy="501455"/>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938D83"/>
                </a:solidFill>
                <a:latin typeface="Space Grotesk" pitchFamily="34" charset="0"/>
                <a:ea typeface="Space Grotesk" pitchFamily="34" charset="-122"/>
                <a:cs typeface="Space Grotesk" pitchFamily="34" charset="-120"/>
              </a:rPr>
              <a:t>pooled across all held-out point-mutant pairs. A coin flip.</a:t>
            </a:r>
            <a:endParaRPr lang="en-US" sz="1250" dirty="0"/>
          </a:p>
        </p:txBody>
      </p:sp>
      <p:sp>
        <p:nvSpPr>
          <p:cNvPr id="7" name="Shape 5"/>
          <p:cNvSpPr/>
          <p:nvPr/>
        </p:nvSpPr>
        <p:spPr>
          <a:xfrm>
            <a:off x="4470275" y="1914289"/>
            <a:ext cx="3301947" cy="0"/>
          </a:xfrm>
          <a:prstGeom prst="line">
            <a:avLst/>
          </a:prstGeom>
          <a:noFill/>
          <a:ln w="12700">
            <a:solidFill>
              <a:srgbClr val="E3A23C"/>
            </a:solidFill>
            <a:prstDash val="solid"/>
          </a:ln>
        </p:spPr>
      </p:sp>
      <p:sp>
        <p:nvSpPr>
          <p:cNvPr id="8" name="Text 6"/>
          <p:cNvSpPr/>
          <p:nvPr/>
        </p:nvSpPr>
        <p:spPr>
          <a:xfrm>
            <a:off x="4470275" y="2082670"/>
            <a:ext cx="3401006" cy="685835"/>
          </a:xfrm>
          <a:prstGeom prst="rect">
            <a:avLst/>
          </a:prstGeom>
          <a:noFill/>
          <a:ln/>
        </p:spPr>
        <p:txBody>
          <a:bodyPr wrap="square" lIns="0" tIns="0" rIns="0" bIns="0" rtlCol="0" anchor="t">
            <a:normAutofit/>
          </a:bodyPr>
          <a:lstStyle/>
          <a:p>
            <a:pPr algn="l" indent="0" marL="0">
              <a:lnSpc>
                <a:spcPts val="5200"/>
              </a:lnSpc>
              <a:buNone/>
            </a:pPr>
            <a:r>
              <a:rPr lang="en-US" sz="5200" b="1" dirty="0">
                <a:solidFill>
                  <a:srgbClr val="E3A23C"/>
                </a:solidFill>
                <a:latin typeface="JetBrains Mono" pitchFamily="49" charset="0"/>
                <a:ea typeface="JetBrains Mono" pitchFamily="49" charset="-122"/>
                <a:cs typeface="JetBrains Mono" pitchFamily="49" charset="-120"/>
              </a:rPr>
              <a:t>59.4%</a:t>
            </a:r>
            <a:endParaRPr lang="en-US" sz="5200" dirty="0"/>
          </a:p>
        </p:txBody>
      </p:sp>
      <p:sp>
        <p:nvSpPr>
          <p:cNvPr id="9" name="Text 7"/>
          <p:cNvSpPr/>
          <p:nvPr/>
        </p:nvSpPr>
        <p:spPr>
          <a:xfrm>
            <a:off x="4470275" y="2832007"/>
            <a:ext cx="3401006" cy="501455"/>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938D83"/>
                </a:solidFill>
                <a:latin typeface="Space Grotesk" pitchFamily="34" charset="0"/>
                <a:ea typeface="Space Grotesk" pitchFamily="34" charset="-122"/>
                <a:cs typeface="Space Grotesk" pitchFamily="34" charset="-120"/>
              </a:rPr>
              <a:t>restricted to pairs assayed in the </a:t>
            </a:r>
            <a:r>
              <a:rPr lang="en-US" sz="1250" dirty="0">
                <a:solidFill>
                  <a:srgbClr val="ECE6DB"/>
                </a:solidFill>
                <a:latin typeface="Space Grotesk" pitchFamily="34" charset="0"/>
                <a:ea typeface="Space Grotesk" pitchFamily="34" charset="-122"/>
                <a:cs typeface="Space Grotesk" pitchFamily="34" charset="-120"/>
              </a:rPr>
              <a:t>same study</a:t>
            </a:r>
            <a:r>
              <a:rPr lang="en-US" sz="1250" dirty="0">
                <a:solidFill>
                  <a:srgbClr val="938D83"/>
                </a:solidFill>
                <a:latin typeface="Space Grotesk" pitchFamily="34" charset="0"/>
                <a:ea typeface="Space Grotesk" pitchFamily="34" charset="-122"/>
                <a:cs typeface="Space Grotesk" pitchFamily="34" charset="-120"/>
              </a:rPr>
              <a:t>. 736 pairs, ρ = 0.216.</a:t>
            </a:r>
            <a:endParaRPr lang="en-US" sz="1250" dirty="0"/>
          </a:p>
        </p:txBody>
      </p:sp>
      <p:sp>
        <p:nvSpPr>
          <p:cNvPr id="10" name="Text 8"/>
          <p:cNvSpPr/>
          <p:nvPr/>
        </p:nvSpPr>
        <p:spPr>
          <a:xfrm>
            <a:off x="8127801" y="2073008"/>
            <a:ext cx="3348918" cy="1691809"/>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938D83"/>
                </a:solidFill>
                <a:latin typeface="Space Grotesk" pitchFamily="34" charset="0"/>
                <a:ea typeface="Space Grotesk" pitchFamily="34" charset="-122"/>
                <a:cs typeface="Space Grotesk" pitchFamily="34" charset="-120"/>
              </a:rPr>
              <a:t>A pair whose members come from different papers carries inter-laboratory and inter-organism variation that no sequence model could predict. That stratum is strongly anti-correlated, ρ = −0.44, and it drags the pooled figure down.</a:t>
            </a:r>
            <a:endParaRPr lang="en-US" sz="1250" dirty="0"/>
          </a:p>
        </p:txBody>
      </p:sp>
      <p:sp>
        <p:nvSpPr>
          <p:cNvPr id="11" name="Shape 9"/>
          <p:cNvSpPr/>
          <p:nvPr/>
        </p:nvSpPr>
        <p:spPr>
          <a:xfrm>
            <a:off x="812750" y="4009182"/>
            <a:ext cx="10566428" cy="0"/>
          </a:xfrm>
          <a:prstGeom prst="line">
            <a:avLst/>
          </a:prstGeom>
          <a:noFill/>
          <a:ln w="6350">
            <a:solidFill>
              <a:srgbClr val="272621"/>
            </a:solidFill>
            <a:prstDash val="solid"/>
          </a:ln>
        </p:spPr>
      </p:sp>
      <p:sp>
        <p:nvSpPr>
          <p:cNvPr id="12" name="Text 10"/>
          <p:cNvSpPr/>
          <p:nvPr/>
        </p:nvSpPr>
        <p:spPr>
          <a:xfrm>
            <a:off x="812750" y="4175937"/>
            <a:ext cx="10883421" cy="577721"/>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ECE6DB"/>
                </a:solidFill>
                <a:latin typeface="Space Grotesk" pitchFamily="34" charset="0"/>
                <a:ea typeface="Space Grotesk" pitchFamily="34" charset="-122"/>
                <a:cs typeface="Space Grotesk" pitchFamily="34" charset="-120"/>
              </a:rPr>
              <a:t>Honest reading: </a:t>
            </a:r>
            <a:r>
              <a:rPr lang="en-US" sz="1500" dirty="0">
                <a:solidFill>
                  <a:srgbClr val="E3A23C"/>
                </a:solidFill>
                <a:latin typeface="Space Grotesk" pitchFamily="34" charset="0"/>
                <a:ea typeface="Space Grotesk" pitchFamily="34" charset="-122"/>
                <a:cs typeface="Space Grotesk" pitchFamily="34" charset="-120"/>
              </a:rPr>
              <a:t>59% is weak.</a:t>
            </a:r>
            <a:r>
              <a:rPr lang="en-US" sz="1500" dirty="0">
                <a:solidFill>
                  <a:srgbClr val="ECE6DB"/>
                </a:solidFill>
                <a:latin typeface="Space Grotesk" pitchFamily="34" charset="0"/>
                <a:ea typeface="Space Grotesk" pitchFamily="34" charset="-122"/>
                <a:cs typeface="Space Grotesk" pitchFamily="34" charset="-120"/>
              </a:rPr>
              <a:t> Above chance, and the right order of magnitude for a tool that proposes candidates for experimental follow-up. Not one that replaces the experiment.</a:t>
            </a:r>
            <a:endParaRPr lang="en-US" sz="1500" dirty="0"/>
          </a:p>
        </p:txBody>
      </p:sp>
      <p:sp>
        <p:nvSpPr>
          <p:cNvPr id="13" name="Text 11"/>
          <p:cNvSpPr/>
          <p:nvPr/>
        </p:nvSpPr>
        <p:spPr>
          <a:xfrm>
            <a:off x="9804396" y="6238273"/>
            <a:ext cx="1574781" cy="23870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57F75"/>
                </a:solidFill>
                <a:latin typeface="JetBrains Mono" pitchFamily="49" charset="0"/>
                <a:ea typeface="JetBrains Mono" pitchFamily="49" charset="-122"/>
                <a:cs typeface="JetBrains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3A23C"/>
        </a:solidFill>
      </p:bgPr>
    </p:bg>
    <p:spTree>
      <p:nvGrpSpPr>
        <p:cNvPr id="1" name=""/>
        <p:cNvGrpSpPr/>
        <p:nvPr/>
      </p:nvGrpSpPr>
      <p:grpSpPr>
        <a:xfrm>
          <a:off x="0" y="0"/>
          <a:ext cx="0" cy="0"/>
          <a:chOff x="0" y="0"/>
          <a:chExt cx="0" cy="0"/>
        </a:xfrm>
      </p:grpSpPr>
      <p:sp>
        <p:nvSpPr>
          <p:cNvPr id="2" name="Text 0"/>
          <p:cNvSpPr/>
          <p:nvPr/>
        </p:nvSpPr>
        <p:spPr>
          <a:xfrm>
            <a:off x="812750" y="812750"/>
            <a:ext cx="10883421" cy="238702"/>
          </a:xfrm>
          <a:prstGeom prst="rect">
            <a:avLst/>
          </a:prstGeom>
          <a:noFill/>
          <a:ln/>
        </p:spPr>
        <p:txBody>
          <a:bodyPr wrap="square" lIns="0" tIns="0" rIns="0" bIns="0" rtlCol="0" anchor="t">
            <a:normAutofit/>
          </a:bodyPr>
          <a:lstStyle/>
          <a:p>
            <a:pPr algn="l" indent="0" marL="0">
              <a:lnSpc>
                <a:spcPts val="1680"/>
              </a:lnSpc>
              <a:buNone/>
            </a:pPr>
            <a:r>
              <a:rPr lang="en-US" sz="1200" spc="120" kern="0" dirty="0">
                <a:solidFill>
                  <a:srgbClr val="7A5610"/>
                </a:solidFill>
                <a:latin typeface="JetBrains Mono" pitchFamily="49" charset="0"/>
                <a:ea typeface="JetBrains Mono" pitchFamily="49" charset="-122"/>
                <a:cs typeface="JetBrains Mono" pitchFamily="49" charset="-120"/>
              </a:rPr>
              <a:t>CLAIMS THIS PROJECT DOES NOT MAKE</a:t>
            </a:r>
            <a:endParaRPr lang="en-US" sz="1200" dirty="0"/>
          </a:p>
        </p:txBody>
      </p:sp>
      <p:sp>
        <p:nvSpPr>
          <p:cNvPr id="3" name="Text 1"/>
          <p:cNvSpPr/>
          <p:nvPr>
            <p:ph type="title"/>
          </p:nvPr>
        </p:nvSpPr>
        <p:spPr>
          <a:xfrm>
            <a:off x="812750" y="1241921"/>
            <a:ext cx="10883421" cy="450569"/>
          </a:xfrm>
          <a:prstGeom prst="rect">
            <a:avLst/>
          </a:prstGeom>
          <a:noFill/>
          <a:ln/>
        </p:spPr>
        <p:txBody>
          <a:bodyPr wrap="square" lIns="0" tIns="0" rIns="0" bIns="0" rtlCol="0" anchor="t">
            <a:normAutofit/>
          </a:bodyPr>
          <a:lstStyle/>
          <a:p>
            <a:pPr algn="l" indent="0" marL="0">
              <a:lnSpc>
                <a:spcPts val="3348"/>
              </a:lnSpc>
              <a:buNone/>
            </a:pPr>
            <a:r>
              <a:rPr lang="en-US" sz="3100" b="1" i="0" spc="-110" kern="0" dirty="0">
                <a:solidFill>
                  <a:srgbClr val="1B1203"/>
                </a:solidFill>
                <a:latin typeface="Space Grotesk" pitchFamily="34" charset="0"/>
                <a:ea typeface="Space Grotesk" pitchFamily="34" charset="-122"/>
                <a:cs typeface="Space Grotesk" pitchFamily="34" charset="-120"/>
              </a:rPr>
              <a:t>Four things we are careful not to claim</a:t>
            </a:r>
            <a:endParaRPr lang="en-US" sz="3100" dirty="0"/>
          </a:p>
        </p:txBody>
      </p:sp>
      <p:sp>
        <p:nvSpPr>
          <p:cNvPr id="4" name="Shape 2"/>
          <p:cNvSpPr/>
          <p:nvPr/>
        </p:nvSpPr>
        <p:spPr>
          <a:xfrm>
            <a:off x="812750" y="1886136"/>
            <a:ext cx="10566428" cy="0"/>
          </a:xfrm>
          <a:prstGeom prst="line">
            <a:avLst/>
          </a:prstGeom>
          <a:noFill/>
          <a:ln w="6350">
            <a:solidFill>
              <a:srgbClr val="A97523">
                <a:alpha val="50000"/>
              </a:srgbClr>
            </a:solidFill>
            <a:prstDash val="solid"/>
          </a:ln>
        </p:spPr>
      </p:sp>
      <p:sp>
        <p:nvSpPr>
          <p:cNvPr id="5" name="Text 3"/>
          <p:cNvSpPr/>
          <p:nvPr/>
        </p:nvSpPr>
        <p:spPr>
          <a:xfrm>
            <a:off x="812750" y="2040179"/>
            <a:ext cx="3662610" cy="261571"/>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1B1203"/>
                </a:solidFill>
                <a:latin typeface="Space Grotesk" pitchFamily="34" charset="0"/>
                <a:ea typeface="Space Grotesk" pitchFamily="34" charset="-122"/>
                <a:cs typeface="Space Grotesk" pitchFamily="34" charset="-120"/>
              </a:rPr>
              <a:t>No quantum advantage</a:t>
            </a:r>
            <a:endParaRPr lang="en-US" sz="1550" dirty="0"/>
          </a:p>
        </p:txBody>
      </p:sp>
      <p:sp>
        <p:nvSpPr>
          <p:cNvPr id="6" name="Text 4"/>
          <p:cNvSpPr/>
          <p:nvPr/>
        </p:nvSpPr>
        <p:spPr>
          <a:xfrm>
            <a:off x="4660707" y="2059502"/>
            <a:ext cx="6920025" cy="469816"/>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4400F"/>
                </a:solidFill>
                <a:latin typeface="Space Grotesk" pitchFamily="34" charset="0"/>
                <a:ea typeface="Space Grotesk" pitchFamily="34" charset="-122"/>
                <a:cs typeface="Space Grotesk" pitchFamily="34" charset="-120"/>
              </a:rPr>
              <a:t>Instances are tiny, and simulated annealing reaches the exact optimum at every size tested.</a:t>
            </a:r>
            <a:endParaRPr lang="en-US" sz="1250" dirty="0"/>
          </a:p>
        </p:txBody>
      </p:sp>
      <p:sp>
        <p:nvSpPr>
          <p:cNvPr id="7" name="Shape 5"/>
          <p:cNvSpPr/>
          <p:nvPr/>
        </p:nvSpPr>
        <p:spPr>
          <a:xfrm>
            <a:off x="812750" y="2659484"/>
            <a:ext cx="10566428" cy="0"/>
          </a:xfrm>
          <a:prstGeom prst="line">
            <a:avLst/>
          </a:prstGeom>
          <a:noFill/>
          <a:ln w="6350">
            <a:solidFill>
              <a:srgbClr val="A97523">
                <a:alpha val="50000"/>
              </a:srgbClr>
            </a:solidFill>
            <a:prstDash val="solid"/>
          </a:ln>
        </p:spPr>
      </p:sp>
      <p:sp>
        <p:nvSpPr>
          <p:cNvPr id="8" name="Text 6"/>
          <p:cNvSpPr/>
          <p:nvPr/>
        </p:nvSpPr>
        <p:spPr>
          <a:xfrm>
            <a:off x="812750" y="2813527"/>
            <a:ext cx="3662610" cy="261571"/>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1B1203"/>
                </a:solidFill>
                <a:latin typeface="Space Grotesk" pitchFamily="34" charset="0"/>
                <a:ea typeface="Space Grotesk" pitchFamily="34" charset="-122"/>
                <a:cs typeface="Space Grotesk" pitchFamily="34" charset="-120"/>
              </a:rPr>
              <a:t>No novelty for quantum AMP design</a:t>
            </a:r>
            <a:endParaRPr lang="en-US" sz="1550" dirty="0"/>
          </a:p>
        </p:txBody>
      </p:sp>
      <p:sp>
        <p:nvSpPr>
          <p:cNvPr id="9" name="Text 7"/>
          <p:cNvSpPr/>
          <p:nvPr/>
        </p:nvSpPr>
        <p:spPr>
          <a:xfrm>
            <a:off x="4660707" y="2832850"/>
            <a:ext cx="6920025" cy="469816"/>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4400F"/>
                </a:solidFill>
                <a:latin typeface="Space Grotesk" pitchFamily="34" charset="0"/>
                <a:ea typeface="Space Grotesk" pitchFamily="34" charset="-122"/>
                <a:cs typeface="Space Grotesk" pitchFamily="34" charset="-120"/>
              </a:rPr>
              <a:t>That was done and wet-lab validated in 2023. What differs is how the QUBO is built and measured.</a:t>
            </a:r>
            <a:endParaRPr lang="en-US" sz="1250" dirty="0"/>
          </a:p>
        </p:txBody>
      </p:sp>
      <p:sp>
        <p:nvSpPr>
          <p:cNvPr id="10" name="Shape 8"/>
          <p:cNvSpPr/>
          <p:nvPr/>
        </p:nvSpPr>
        <p:spPr>
          <a:xfrm>
            <a:off x="812750" y="3432832"/>
            <a:ext cx="10566428" cy="0"/>
          </a:xfrm>
          <a:prstGeom prst="line">
            <a:avLst/>
          </a:prstGeom>
          <a:noFill/>
          <a:ln w="6350">
            <a:solidFill>
              <a:srgbClr val="A97523">
                <a:alpha val="50000"/>
              </a:srgbClr>
            </a:solidFill>
            <a:prstDash val="solid"/>
          </a:ln>
        </p:spPr>
      </p:sp>
      <p:sp>
        <p:nvSpPr>
          <p:cNvPr id="11" name="Text 9"/>
          <p:cNvSpPr/>
          <p:nvPr/>
        </p:nvSpPr>
        <p:spPr>
          <a:xfrm>
            <a:off x="812750" y="3586882"/>
            <a:ext cx="3662610" cy="261571"/>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1B1203"/>
                </a:solidFill>
                <a:latin typeface="Space Grotesk" pitchFamily="34" charset="0"/>
                <a:ea typeface="Space Grotesk" pitchFamily="34" charset="-122"/>
                <a:cs typeface="Space Grotesk" pitchFamily="34" charset="-120"/>
              </a:rPr>
              <a:t>No experimental efficacy</a:t>
            </a:r>
            <a:endParaRPr lang="en-US" sz="1550" dirty="0"/>
          </a:p>
        </p:txBody>
      </p:sp>
      <p:sp>
        <p:nvSpPr>
          <p:cNvPr id="12" name="Text 10"/>
          <p:cNvSpPr/>
          <p:nvPr/>
        </p:nvSpPr>
        <p:spPr>
          <a:xfrm>
            <a:off x="4660707" y="3606205"/>
            <a:ext cx="6920025" cy="469816"/>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4400F"/>
                </a:solidFill>
                <a:latin typeface="Space Grotesk" pitchFamily="34" charset="0"/>
                <a:ea typeface="Space Grotesk" pitchFamily="34" charset="-122"/>
                <a:cs typeface="Space Grotesk" pitchFamily="34" charset="-120"/>
              </a:rPr>
              <a:t>Every sequence is a model-predicted computational candidate. Nothing was synthesised or assayed.</a:t>
            </a:r>
            <a:endParaRPr lang="en-US" sz="1250" dirty="0"/>
          </a:p>
        </p:txBody>
      </p:sp>
      <p:sp>
        <p:nvSpPr>
          <p:cNvPr id="13" name="Shape 11"/>
          <p:cNvSpPr/>
          <p:nvPr/>
        </p:nvSpPr>
        <p:spPr>
          <a:xfrm>
            <a:off x="812750" y="4206187"/>
            <a:ext cx="10566428" cy="0"/>
          </a:xfrm>
          <a:prstGeom prst="line">
            <a:avLst/>
          </a:prstGeom>
          <a:noFill/>
          <a:ln w="6350">
            <a:solidFill>
              <a:srgbClr val="A97523">
                <a:alpha val="50000"/>
              </a:srgbClr>
            </a:solidFill>
            <a:prstDash val="solid"/>
          </a:ln>
        </p:spPr>
      </p:sp>
      <p:sp>
        <p:nvSpPr>
          <p:cNvPr id="14" name="Text 12"/>
          <p:cNvSpPr/>
          <p:nvPr/>
        </p:nvSpPr>
        <p:spPr>
          <a:xfrm>
            <a:off x="812750" y="4360230"/>
            <a:ext cx="3662610" cy="261571"/>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1B1203"/>
                </a:solidFill>
                <a:latin typeface="Space Grotesk" pitchFamily="34" charset="0"/>
                <a:ea typeface="Space Grotesk" pitchFamily="34" charset="-122"/>
                <a:cs typeface="Space Grotesk" pitchFamily="34" charset="-120"/>
              </a:rPr>
              <a:t>No claim the models are strong</a:t>
            </a:r>
            <a:endParaRPr lang="en-US" sz="1550" dirty="0"/>
          </a:p>
        </p:txBody>
      </p:sp>
      <p:sp>
        <p:nvSpPr>
          <p:cNvPr id="15" name="Text 13"/>
          <p:cNvSpPr/>
          <p:nvPr/>
        </p:nvSpPr>
        <p:spPr>
          <a:xfrm>
            <a:off x="4660707" y="4379553"/>
            <a:ext cx="6920025" cy="247608"/>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4400F"/>
                </a:solidFill>
                <a:latin typeface="Space Grotesk" pitchFamily="34" charset="0"/>
                <a:ea typeface="Space Grotesk" pitchFamily="34" charset="-122"/>
                <a:cs typeface="Space Grotesk" pitchFamily="34" charset="-120"/>
              </a:rPr>
              <a:t>Hemolysis beats a mean baseline by 3.5%. Mutation-direction accuracy is about 59%.</a:t>
            </a:r>
            <a:endParaRPr lang="en-US" sz="1250" dirty="0"/>
          </a:p>
        </p:txBody>
      </p:sp>
      <p:sp>
        <p:nvSpPr>
          <p:cNvPr id="16" name="Text 14"/>
          <p:cNvSpPr/>
          <p:nvPr/>
        </p:nvSpPr>
        <p:spPr>
          <a:xfrm>
            <a:off x="812750" y="5071622"/>
            <a:ext cx="10883421" cy="558723"/>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1203"/>
                </a:solidFill>
                <a:latin typeface="Space Grotesk" pitchFamily="34" charset="0"/>
                <a:ea typeface="Space Grotesk" pitchFamily="34" charset="-122"/>
                <a:cs typeface="Space Grotesk" pitchFamily="34" charset="-120"/>
              </a:rPr>
              <a:t>A verified quantum optimization pipeline whose scientific limits were measured rather than assumed, including the limits that make it look bad.</a:t>
            </a:r>
            <a:endParaRPr lang="en-US" sz="1500" dirty="0"/>
          </a:p>
        </p:txBody>
      </p:sp>
      <p:sp>
        <p:nvSpPr>
          <p:cNvPr id="17" name="Text 15"/>
          <p:cNvSpPr/>
          <p:nvPr/>
        </p:nvSpPr>
        <p:spPr>
          <a:xfrm>
            <a:off x="9804396" y="6238280"/>
            <a:ext cx="1574781" cy="23870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5610"/>
                </a:solidFill>
                <a:latin typeface="JetBrains Mono" pitchFamily="49" charset="0"/>
                <a:ea typeface="JetBrains Mono" pitchFamily="49" charset="-122"/>
                <a:cs typeface="JetBrains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B0C"/>
        </a:solidFill>
      </p:bgPr>
    </p:bg>
    <p:spTree>
      <p:nvGrpSpPr>
        <p:cNvPr id="1" name=""/>
        <p:cNvGrpSpPr/>
        <p:nvPr/>
      </p:nvGrpSpPr>
      <p:grpSpPr>
        <a:xfrm>
          <a:off x="0" y="0"/>
          <a:ext cx="0" cy="0"/>
          <a:chOff x="0" y="0"/>
          <a:chExt cx="0" cy="0"/>
        </a:xfrm>
      </p:grpSpPr>
      <p:sp>
        <p:nvSpPr>
          <p:cNvPr id="2" name="Text 0"/>
          <p:cNvSpPr/>
          <p:nvPr>
            <p:ph type="title"/>
          </p:nvPr>
        </p:nvSpPr>
        <p:spPr>
          <a:xfrm>
            <a:off x="812750" y="698475"/>
            <a:ext cx="5363151" cy="798901"/>
          </a:xfrm>
          <a:prstGeom prst="rect">
            <a:avLst/>
          </a:prstGeom>
          <a:noFill/>
          <a:ln/>
        </p:spPr>
        <p:txBody>
          <a:bodyPr wrap="square" lIns="0" tIns="0" rIns="0" bIns="0" rtlCol="0" anchor="t">
            <a:normAutofit/>
          </a:bodyPr>
          <a:lstStyle/>
          <a:p>
            <a:pPr algn="l" indent="0" marL="0">
              <a:lnSpc>
                <a:spcPts val="3045"/>
              </a:lnSpc>
              <a:buNone/>
            </a:pPr>
            <a:r>
              <a:rPr lang="en-US" sz="2900" b="1" i="0" spc="-100" kern="0" dirty="0">
                <a:solidFill>
                  <a:srgbClr val="ECE6DB"/>
                </a:solidFill>
                <a:latin typeface="Space Grotesk" pitchFamily="34" charset="0"/>
                <a:ea typeface="Space Grotesk" pitchFamily="34" charset="-122"/>
                <a:cs typeface="Space Grotesk" pitchFamily="34" charset="-120"/>
              </a:rPr>
              <a:t>Every page renders a real executed run</a:t>
            </a:r>
            <a:endParaRPr lang="en-US" sz="2900" dirty="0"/>
          </a:p>
        </p:txBody>
      </p:sp>
      <p:sp>
        <p:nvSpPr>
          <p:cNvPr id="3" name="Text 1"/>
          <p:cNvSpPr/>
          <p:nvPr/>
        </p:nvSpPr>
        <p:spPr>
          <a:xfrm>
            <a:off x="6311718" y="942498"/>
            <a:ext cx="5219483" cy="50408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938D83"/>
                </a:solidFill>
                <a:latin typeface="Space Grotesk" pitchFamily="34" charset="0"/>
                <a:ea typeface="Space Grotesk" pitchFamily="34" charset="-122"/>
                <a:cs typeface="Space Grotesk" pitchFamily="34" charset="-120"/>
              </a:rPr>
              <a:t>No demo mode, no placeholder data. If nothing has been run, each page says so instead of showing an invented result.</a:t>
            </a:r>
            <a:endParaRPr lang="en-US" sz="1300" dirty="0"/>
          </a:p>
        </p:txBody>
      </p:sp>
      <p:pic>
        <p:nvPicPr>
          <p:cNvPr id="4" name="Image 0" descr="Q-Peptide overview page showing a completed optimization run">    </p:cNvPr>
          <p:cNvPicPr>
            <a:picLocks noChangeAspect="1"/>
          </p:cNvPicPr>
          <p:nvPr/>
        </p:nvPicPr>
        <p:blipFill>
          <a:blip r:embed="rId1"/>
          <a:srcRect l="4213" r="4213" t="0" b="0"/>
          <a:stretch/>
        </p:blipFill>
        <p:spPr>
          <a:xfrm>
            <a:off x="0" y="1687847"/>
            <a:ext cx="4044880" cy="2984486"/>
          </a:xfrm>
          <a:prstGeom prst="rect">
            <a:avLst/>
          </a:prstGeom>
        </p:spPr>
      </p:pic>
      <p:pic>
        <p:nvPicPr>
          <p:cNvPr id="5" name="Image 1" descr="Quantum page showing QAOA depth study and transpiled circuit cost">    </p:cNvPr>
          <p:cNvPicPr>
            <a:picLocks noChangeAspect="1"/>
          </p:cNvPicPr>
          <p:nvPr/>
        </p:nvPicPr>
        <p:blipFill>
          <a:blip r:embed="rId2"/>
          <a:srcRect l="4213" r="4213" t="0" b="0"/>
          <a:stretch/>
        </p:blipFill>
        <p:spPr>
          <a:xfrm>
            <a:off x="4070240" y="1687847"/>
            <a:ext cx="4044880" cy="2984486"/>
          </a:xfrm>
          <a:prstGeom prst="rect">
            <a:avLst/>
          </a:prstGeom>
        </p:spPr>
      </p:pic>
      <p:pic>
        <p:nvPicPr>
          <p:cNvPr id="6" name="Image 2" descr="Benchmark page comparing QAOA against exact enumeration and classical solvers">    </p:cNvPr>
          <p:cNvPicPr>
            <a:picLocks noChangeAspect="1"/>
          </p:cNvPicPr>
          <p:nvPr/>
        </p:nvPicPr>
        <p:blipFill>
          <a:blip r:embed="rId3"/>
          <a:srcRect l="4213" r="4213" t="0" b="0"/>
          <a:stretch/>
        </p:blipFill>
        <p:spPr>
          <a:xfrm>
            <a:off x="8140481" y="1687847"/>
            <a:ext cx="4044880" cy="2984486"/>
          </a:xfrm>
          <a:prstGeom prst="rect">
            <a:avLst/>
          </a:prstGeom>
        </p:spPr>
      </p:pic>
      <p:sp>
        <p:nvSpPr>
          <p:cNvPr id="7" name="Text 2"/>
          <p:cNvSpPr/>
          <p:nvPr/>
        </p:nvSpPr>
        <p:spPr>
          <a:xfrm>
            <a:off x="812800" y="6383077"/>
            <a:ext cx="10883317" cy="2208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857F75"/>
                </a:solidFill>
                <a:latin typeface="JetBrains Mono" pitchFamily="49" charset="0"/>
                <a:ea typeface="JetBrains Mono" pitchFamily="49" charset="-122"/>
                <a:cs typeface="JetBrains Mono" pitchFamily="49" charset="-120"/>
              </a:rPr>
              <a:t>overview · quantum · benchmark — React, FastAPI, research documents typeset in the browser</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214"/>
        </a:solidFill>
      </p:bgPr>
    </p:bg>
    <p:spTree>
      <p:nvGrpSpPr>
        <p:cNvPr id="1" name=""/>
        <p:cNvGrpSpPr/>
        <p:nvPr/>
      </p:nvGrpSpPr>
      <p:grpSpPr>
        <a:xfrm>
          <a:off x="0" y="0"/>
          <a:ext cx="0" cy="0"/>
          <a:chOff x="0" y="0"/>
          <a:chExt cx="0" cy="0"/>
        </a:xfrm>
      </p:grpSpPr>
      <p:sp>
        <p:nvSpPr>
          <p:cNvPr id="2" name="Text 0"/>
          <p:cNvSpPr/>
          <p:nvPr/>
        </p:nvSpPr>
        <p:spPr>
          <a:xfrm>
            <a:off x="812750" y="1528056"/>
            <a:ext cx="10883421" cy="238702"/>
          </a:xfrm>
          <a:prstGeom prst="rect">
            <a:avLst/>
          </a:prstGeom>
          <a:noFill/>
          <a:ln/>
        </p:spPr>
        <p:txBody>
          <a:bodyPr wrap="square" lIns="0" tIns="0" rIns="0" bIns="0" rtlCol="0" anchor="t">
            <a:normAutofit/>
          </a:bodyPr>
          <a:lstStyle/>
          <a:p>
            <a:pPr algn="l" indent="0" marL="0">
              <a:lnSpc>
                <a:spcPts val="1680"/>
              </a:lnSpc>
              <a:buNone/>
            </a:pPr>
            <a:r>
              <a:rPr lang="en-US" sz="1200" spc="120" kern="0" dirty="0">
                <a:solidFill>
                  <a:srgbClr val="E3A23C"/>
                </a:solidFill>
                <a:latin typeface="JetBrains Mono" pitchFamily="49" charset="0"/>
                <a:ea typeface="JetBrains Mono" pitchFamily="49" charset="-122"/>
                <a:cs typeface="JetBrains Mono" pitchFamily="49" charset="-120"/>
              </a:rPr>
              <a:t>REPRODUCE IT</a:t>
            </a:r>
            <a:endParaRPr lang="en-US" sz="1200" dirty="0"/>
          </a:p>
        </p:txBody>
      </p:sp>
      <p:sp>
        <p:nvSpPr>
          <p:cNvPr id="3" name="Text 1"/>
          <p:cNvSpPr/>
          <p:nvPr>
            <p:ph type="title"/>
          </p:nvPr>
        </p:nvSpPr>
        <p:spPr>
          <a:xfrm>
            <a:off x="812750" y="1995339"/>
            <a:ext cx="10883421" cy="878757"/>
          </a:xfrm>
          <a:prstGeom prst="rect">
            <a:avLst/>
          </a:prstGeom>
          <a:noFill/>
          <a:ln/>
        </p:spPr>
        <p:txBody>
          <a:bodyPr wrap="square" lIns="0" tIns="0" rIns="0" bIns="0" rtlCol="0" anchor="t">
            <a:normAutofit/>
          </a:bodyPr>
          <a:lstStyle/>
          <a:p>
            <a:pPr algn="l" indent="0" marL="0">
              <a:lnSpc>
                <a:spcPts val="3360"/>
              </a:lnSpc>
              <a:buNone/>
            </a:pPr>
            <a:r>
              <a:rPr lang="en-US" sz="3200" b="1" i="0" spc="-110" kern="0" dirty="0">
                <a:solidFill>
                  <a:srgbClr val="ECE6DB"/>
                </a:solidFill>
                <a:latin typeface="Space Grotesk" pitchFamily="34" charset="0"/>
                <a:ea typeface="Space Grotesk" pitchFamily="34" charset="-122"/>
                <a:cs typeface="Space Grotesk" pitchFamily="34" charset="-120"/>
              </a:rPr>
              <a:t>Every figure here regenerates</a:t>
            </a:r>
            <a:endParaRPr lang="en-US" sz="3200" dirty="0"/>
          </a:p>
          <a:p>
            <a:pPr algn="l" indent="0" marL="0">
              <a:lnSpc>
                <a:spcPts val="3360"/>
              </a:lnSpc>
              <a:buNone/>
            </a:pPr>
            <a:r>
              <a:rPr lang="en-US" sz="3200" b="1" i="0" spc="-110" kern="0" dirty="0">
                <a:solidFill>
                  <a:srgbClr val="ECE6DB"/>
                </a:solidFill>
                <a:latin typeface="Space Grotesk" pitchFamily="34" charset="0"/>
                <a:ea typeface="Space Grotesk" pitchFamily="34" charset="-122"/>
                <a:cs typeface="Space Grotesk" pitchFamily="34" charset="-120"/>
              </a:rPr>
              <a:t>from the repository</a:t>
            </a:r>
            <a:endParaRPr lang="en-US" sz="3200" dirty="0"/>
          </a:p>
        </p:txBody>
      </p:sp>
      <p:sp>
        <p:nvSpPr>
          <p:cNvPr id="4" name="Shape 2"/>
          <p:cNvSpPr/>
          <p:nvPr/>
        </p:nvSpPr>
        <p:spPr>
          <a:xfrm>
            <a:off x="812750" y="3169332"/>
            <a:ext cx="3301947" cy="0"/>
          </a:xfrm>
          <a:prstGeom prst="line">
            <a:avLst/>
          </a:prstGeom>
          <a:noFill/>
          <a:ln w="6350">
            <a:solidFill>
              <a:srgbClr val="272621"/>
            </a:solidFill>
            <a:prstDash val="solid"/>
          </a:ln>
        </p:spPr>
      </p:sp>
      <p:sp>
        <p:nvSpPr>
          <p:cNvPr id="5" name="Text 3"/>
          <p:cNvSpPr/>
          <p:nvPr/>
        </p:nvSpPr>
        <p:spPr>
          <a:xfrm>
            <a:off x="812750" y="3310620"/>
            <a:ext cx="3401006" cy="225417"/>
          </a:xfrm>
          <a:prstGeom prst="rect">
            <a:avLst/>
          </a:prstGeom>
          <a:noFill/>
          <a:ln/>
        </p:spPr>
        <p:txBody>
          <a:bodyPr wrap="none" lIns="0" tIns="0" rIns="0" bIns="0" rtlCol="0" anchor="t">
            <a:normAutofit/>
          </a:bodyPr>
          <a:lstStyle/>
          <a:p>
            <a:pPr algn="l" indent="0" marL="0">
              <a:lnSpc>
                <a:spcPts val="1575"/>
              </a:lnSpc>
              <a:buNone/>
            </a:pPr>
            <a:r>
              <a:rPr lang="en-US" sz="1050" dirty="0">
                <a:solidFill>
                  <a:srgbClr val="E3A23C"/>
                </a:solidFill>
                <a:latin typeface="JetBrains Mono" pitchFamily="49" charset="0"/>
                <a:ea typeface="JetBrains Mono" pitchFamily="49" charset="-122"/>
                <a:cs typeface="JetBrains Mono" pitchFamily="49" charset="-120"/>
              </a:rPr>
              <a:t>python -m backend.experiments.final</a:t>
            </a:r>
            <a:endParaRPr lang="en-US" sz="1050" dirty="0"/>
          </a:p>
        </p:txBody>
      </p:sp>
      <p:sp>
        <p:nvSpPr>
          <p:cNvPr id="6" name="Text 4"/>
          <p:cNvSpPr/>
          <p:nvPr/>
        </p:nvSpPr>
        <p:spPr>
          <a:xfrm>
            <a:off x="812750" y="3574145"/>
            <a:ext cx="3401006" cy="253925"/>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38D83"/>
                </a:solidFill>
                <a:latin typeface="Space Grotesk" pitchFamily="34" charset="0"/>
                <a:ea typeface="Space Grotesk" pitchFamily="34" charset="-122"/>
                <a:cs typeface="Space Grotesk" pitchFamily="34" charset="-120"/>
              </a:rPr>
              <a:t>Regenerates every result in this deck.</a:t>
            </a:r>
            <a:endParaRPr lang="en-US" sz="1200" dirty="0"/>
          </a:p>
        </p:txBody>
      </p:sp>
      <p:sp>
        <p:nvSpPr>
          <p:cNvPr id="7" name="Shape 5"/>
          <p:cNvSpPr/>
          <p:nvPr/>
        </p:nvSpPr>
        <p:spPr>
          <a:xfrm>
            <a:off x="4559189" y="3169332"/>
            <a:ext cx="3301947" cy="0"/>
          </a:xfrm>
          <a:prstGeom prst="line">
            <a:avLst/>
          </a:prstGeom>
          <a:noFill/>
          <a:ln w="6350">
            <a:solidFill>
              <a:srgbClr val="272621"/>
            </a:solidFill>
            <a:prstDash val="solid"/>
          </a:ln>
        </p:spPr>
      </p:sp>
      <p:sp>
        <p:nvSpPr>
          <p:cNvPr id="8" name="Text 6"/>
          <p:cNvSpPr/>
          <p:nvPr/>
        </p:nvSpPr>
        <p:spPr>
          <a:xfrm>
            <a:off x="4559189" y="3310620"/>
            <a:ext cx="3401006" cy="225417"/>
          </a:xfrm>
          <a:prstGeom prst="rect">
            <a:avLst/>
          </a:prstGeom>
          <a:noFill/>
          <a:ln/>
        </p:spPr>
        <p:txBody>
          <a:bodyPr wrap="none" lIns="0" tIns="0" rIns="0" bIns="0" rtlCol="0" anchor="t">
            <a:normAutofit/>
          </a:bodyPr>
          <a:lstStyle/>
          <a:p>
            <a:pPr algn="l" indent="0" marL="0">
              <a:lnSpc>
                <a:spcPts val="1575"/>
              </a:lnSpc>
              <a:buNone/>
            </a:pPr>
            <a:r>
              <a:rPr lang="en-US" sz="1050" dirty="0">
                <a:solidFill>
                  <a:srgbClr val="E3A23C"/>
                </a:solidFill>
                <a:latin typeface="JetBrains Mono" pitchFamily="49" charset="0"/>
                <a:ea typeface="JetBrains Mono" pitchFamily="49" charset="-122"/>
                <a:cs typeface="JetBrains Mono" pitchFamily="49" charset="-120"/>
              </a:rPr>
              <a:t>python -m backend.experiments.hardware_run</a:t>
            </a:r>
            <a:endParaRPr lang="en-US" sz="1050" dirty="0"/>
          </a:p>
        </p:txBody>
      </p:sp>
      <p:sp>
        <p:nvSpPr>
          <p:cNvPr id="9" name="Text 7"/>
          <p:cNvSpPr/>
          <p:nvPr/>
        </p:nvSpPr>
        <p:spPr>
          <a:xfrm>
            <a:off x="4559189" y="3574145"/>
            <a:ext cx="3401006" cy="253925"/>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38D83"/>
                </a:solidFill>
                <a:latin typeface="Space Grotesk" pitchFamily="34" charset="0"/>
                <a:ea typeface="Space Grotesk" pitchFamily="34" charset="-122"/>
                <a:cs typeface="Space Grotesk" pitchFamily="34" charset="-120"/>
              </a:rPr>
              <a:t>The real-hardware run. Needs an IBM token.</a:t>
            </a:r>
            <a:endParaRPr lang="en-US" sz="1200" dirty="0"/>
          </a:p>
        </p:txBody>
      </p:sp>
      <p:sp>
        <p:nvSpPr>
          <p:cNvPr id="10" name="Shape 8"/>
          <p:cNvSpPr/>
          <p:nvPr/>
        </p:nvSpPr>
        <p:spPr>
          <a:xfrm>
            <a:off x="8305627" y="3169332"/>
            <a:ext cx="3073550" cy="0"/>
          </a:xfrm>
          <a:prstGeom prst="line">
            <a:avLst/>
          </a:prstGeom>
          <a:noFill/>
          <a:ln w="6350">
            <a:solidFill>
              <a:srgbClr val="272621"/>
            </a:solidFill>
            <a:prstDash val="solid"/>
          </a:ln>
        </p:spPr>
      </p:sp>
      <p:sp>
        <p:nvSpPr>
          <p:cNvPr id="11" name="Text 9"/>
          <p:cNvSpPr/>
          <p:nvPr/>
        </p:nvSpPr>
        <p:spPr>
          <a:xfrm>
            <a:off x="8305627" y="3310620"/>
            <a:ext cx="3165757" cy="225417"/>
          </a:xfrm>
          <a:prstGeom prst="rect">
            <a:avLst/>
          </a:prstGeom>
          <a:noFill/>
          <a:ln/>
        </p:spPr>
        <p:txBody>
          <a:bodyPr wrap="none" lIns="0" tIns="0" rIns="0" bIns="0" rtlCol="0" anchor="t">
            <a:normAutofit/>
          </a:bodyPr>
          <a:lstStyle/>
          <a:p>
            <a:pPr algn="l" indent="0" marL="0">
              <a:lnSpc>
                <a:spcPts val="1575"/>
              </a:lnSpc>
              <a:buNone/>
            </a:pPr>
            <a:r>
              <a:rPr lang="en-US" sz="1050" dirty="0">
                <a:solidFill>
                  <a:srgbClr val="E3A23C"/>
                </a:solidFill>
                <a:latin typeface="JetBrains Mono" pitchFamily="49" charset="0"/>
                <a:ea typeface="JetBrains Mono" pitchFamily="49" charset="-122"/>
                <a:cs typeface="JetBrains Mono" pitchFamily="49" charset="-120"/>
              </a:rPr>
              <a:t>uvicorn backend.app:app</a:t>
            </a:r>
            <a:endParaRPr lang="en-US" sz="1050" dirty="0"/>
          </a:p>
        </p:txBody>
      </p:sp>
      <p:sp>
        <p:nvSpPr>
          <p:cNvPr id="12" name="Text 10"/>
          <p:cNvSpPr/>
          <p:nvPr/>
        </p:nvSpPr>
        <p:spPr>
          <a:xfrm>
            <a:off x="8305627" y="3574145"/>
            <a:ext cx="3165757" cy="253925"/>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38D83"/>
                </a:solidFill>
                <a:latin typeface="Space Grotesk" pitchFamily="34" charset="0"/>
                <a:ea typeface="Space Grotesk" pitchFamily="34" charset="-122"/>
                <a:cs typeface="Space Grotesk" pitchFamily="34" charset="-120"/>
              </a:rPr>
              <a:t>Plus npm run dev for the interface.</a:t>
            </a:r>
            <a:endParaRPr lang="en-US" sz="1200" dirty="0"/>
          </a:p>
        </p:txBody>
      </p:sp>
      <p:sp>
        <p:nvSpPr>
          <p:cNvPr id="13" name="Text 11"/>
          <p:cNvSpPr/>
          <p:nvPr/>
        </p:nvSpPr>
        <p:spPr>
          <a:xfrm>
            <a:off x="812750" y="4056658"/>
            <a:ext cx="9810728" cy="539860"/>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938D83"/>
                </a:solidFill>
                <a:latin typeface="Space Grotesk" pitchFamily="34" charset="0"/>
                <a:ea typeface="Space Grotesk" pitchFamily="34" charset="-122"/>
                <a:cs typeface="Space Grotesk" pitchFamily="34" charset="-120"/>
              </a:rPr>
              <a:t>The repo ships an executed notebook with embedded outputs, a design document, an adversarial self-review, and an audit recording what was claimed, what was built, and the two claims that were wrong before being corrected.</a:t>
            </a:r>
            <a:endParaRPr lang="en-US" sz="1350" dirty="0"/>
          </a:p>
        </p:txBody>
      </p:sp>
      <p:sp>
        <p:nvSpPr>
          <p:cNvPr id="14" name="Text 12"/>
          <p:cNvSpPr/>
          <p:nvPr/>
        </p:nvSpPr>
        <p:spPr>
          <a:xfrm>
            <a:off x="812750" y="4825095"/>
            <a:ext cx="10883421" cy="327011"/>
          </a:xfrm>
          <a:prstGeom prst="rect">
            <a:avLst/>
          </a:prstGeom>
          <a:noFill/>
          <a:ln/>
        </p:spPr>
        <p:txBody>
          <a:bodyPr wrap="square" lIns="0" tIns="0" rIns="0" bIns="0" rtlCol="0" anchor="t">
            <a:normAutofit/>
          </a:bodyPr>
          <a:lstStyle/>
          <a:p>
            <a:pPr algn="l" indent="0" marL="0">
              <a:lnSpc>
                <a:spcPts val="2375"/>
              </a:lnSpc>
              <a:buNone/>
            </a:pPr>
            <a:r>
              <a:rPr lang="en-US" sz="1900" b="1" dirty="0">
                <a:solidFill>
                  <a:srgbClr val="E3A23C"/>
                </a:solidFill>
                <a:latin typeface="Space Grotesk" pitchFamily="34" charset="0"/>
                <a:ea typeface="Space Grotesk" pitchFamily="34" charset="-122"/>
                <a:cs typeface="Space Grotesk" pitchFamily="34" charset="-120"/>
              </a:rPr>
              <a:t>Questions welcome. The hard ones especially.</a:t>
            </a:r>
            <a:endParaRPr lang="en-US" sz="1900" dirty="0"/>
          </a:p>
        </p:txBody>
      </p:sp>
      <p:sp>
        <p:nvSpPr>
          <p:cNvPr id="15" name="Text 13"/>
          <p:cNvSpPr/>
          <p:nvPr/>
        </p:nvSpPr>
        <p:spPr>
          <a:xfrm>
            <a:off x="9804396" y="6238280"/>
            <a:ext cx="1574781" cy="23870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57F75"/>
                </a:solidFill>
                <a:latin typeface="JetBrains Mono" pitchFamily="49" charset="0"/>
                <a:ea typeface="JetBrains Mono" pitchFamily="49" charset="-122"/>
                <a:cs typeface="JetBrains Mono" pitchFamily="49" charset="-120"/>
              </a:rPr>
              <a:t>16</a:t>
            </a:r>
            <a:endParaRPr lang="en-US" sz="1200" dirty="0"/>
          </a:p>
        </p:txBody>
      </p:sp>
    </p:spTree>
  </p:cSld>
  <p:clrMapOvr>
    <a:masterClrMapping/>
  </p:clrMapOvr>
</p:sld>
</file>

<file path=ppt/theme/theme1.xml><?xml version="1.0" encoding="utf-8"?>
<a:theme xmlns:a="http://schemas.openxmlformats.org/drawingml/2006/main" name="Q-Peptide — Qiskit Fall Fest 2026">
  <a:themeElements>
    <a:clrScheme name="Q-Peptide — Qiskit Fall Fest 2026">
      <a:dk1>
        <a:srgbClr val="0B0B0C"/>
      </a:dk1>
      <a:lt1>
        <a:srgbClr val="ECE6DB"/>
      </a:lt1>
      <a:dk2>
        <a:srgbClr val="222121"/>
      </a:dk2>
      <a:lt2>
        <a:srgbClr val="B4AFA7"/>
      </a:lt2>
      <a:accent1>
        <a:srgbClr val="E3A23C"/>
      </a:accent1>
      <a:accent2>
        <a:srgbClr val="54400F"/>
      </a:accent2>
      <a:accent3>
        <a:srgbClr val="C7604A"/>
      </a:accent3>
      <a:accent4>
        <a:srgbClr val="7A5610"/>
      </a:accent4>
      <a:accent5>
        <a:srgbClr val="938D83"/>
      </a:accent5>
      <a:accent6>
        <a:srgbClr val="857F75"/>
      </a:accent6>
      <a:hlink>
        <a:srgbClr val="0563C1"/>
      </a:hlink>
      <a:folHlink>
        <a:srgbClr val="954F72"/>
      </a:folHlink>
    </a:clrScheme>
    <a:fontScheme name="Q-Peptide — Qiskit Fall Fest 2026">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pace Grotes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Q-Peptide — Qiskit Fall Fest 2026</dc:title>
  <dc:subject/>
  <dc:creator/>
  <cp:lastModifiedBy/>
  <cp:revision>1</cp:revision>
  <dcterms:created xsi:type="dcterms:W3CDTF">2026-10-04T16:00:53Z</dcterms:created>
  <dcterms:modified xsi:type="dcterms:W3CDTF">2026-10-04T16:00:53Z</dcterms:modified>
</cp:coreProperties>
</file>